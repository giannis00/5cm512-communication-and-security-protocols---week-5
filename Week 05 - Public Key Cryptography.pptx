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34"/>
  </p:notesMasterIdLst>
  <p:sldIdLst>
    <p:sldId id="256" r:id="rId5"/>
    <p:sldId id="315" r:id="rId6"/>
    <p:sldId id="387" r:id="rId7"/>
    <p:sldId id="386" r:id="rId8"/>
    <p:sldId id="385" r:id="rId9"/>
    <p:sldId id="384" r:id="rId10"/>
    <p:sldId id="382" r:id="rId11"/>
    <p:sldId id="381" r:id="rId12"/>
    <p:sldId id="380" r:id="rId13"/>
    <p:sldId id="379" r:id="rId14"/>
    <p:sldId id="378" r:id="rId15"/>
    <p:sldId id="377" r:id="rId16"/>
    <p:sldId id="376" r:id="rId17"/>
    <p:sldId id="375" r:id="rId18"/>
    <p:sldId id="374" r:id="rId19"/>
    <p:sldId id="392" r:id="rId20"/>
    <p:sldId id="393" r:id="rId21"/>
    <p:sldId id="394" r:id="rId22"/>
    <p:sldId id="395" r:id="rId23"/>
    <p:sldId id="373" r:id="rId24"/>
    <p:sldId id="372" r:id="rId25"/>
    <p:sldId id="371" r:id="rId26"/>
    <p:sldId id="370" r:id="rId27"/>
    <p:sldId id="369" r:id="rId28"/>
    <p:sldId id="390" r:id="rId29"/>
    <p:sldId id="389" r:id="rId30"/>
    <p:sldId id="391" r:id="rId31"/>
    <p:sldId id="388" r:id="rId32"/>
    <p:sldId id="36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FF6AA0-C3A3-40B0-97B0-E93CE03B3D13}">
          <p14:sldIdLst>
            <p14:sldId id="256"/>
            <p14:sldId id="315"/>
            <p14:sldId id="387"/>
            <p14:sldId id="386"/>
            <p14:sldId id="385"/>
            <p14:sldId id="384"/>
            <p14:sldId id="382"/>
            <p14:sldId id="381"/>
            <p14:sldId id="380"/>
            <p14:sldId id="379"/>
            <p14:sldId id="378"/>
            <p14:sldId id="377"/>
            <p14:sldId id="376"/>
            <p14:sldId id="375"/>
            <p14:sldId id="374"/>
            <p14:sldId id="392"/>
            <p14:sldId id="393"/>
            <p14:sldId id="394"/>
            <p14:sldId id="395"/>
            <p14:sldId id="373"/>
            <p14:sldId id="372"/>
            <p14:sldId id="371"/>
            <p14:sldId id="370"/>
            <p14:sldId id="369"/>
            <p14:sldId id="390"/>
            <p14:sldId id="389"/>
            <p14:sldId id="391"/>
            <p14:sldId id="388"/>
            <p14:sldId id="368"/>
          </p14:sldIdLst>
        </p14:section>
        <p14:section name="Untitled Section" id="{AECCD7B7-F897-4B78-9289-4DCB990D03A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FF00"/>
    <a:srgbClr val="F4C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B6475-DE02-2EFA-EF6D-A4A5D8AF1FDF}" v="3" dt="2025-10-02T22:38:48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2" autoAdjust="0"/>
    <p:restoredTop sz="94360" autoAdjust="0"/>
  </p:normalViewPr>
  <p:slideViewPr>
    <p:cSldViewPr snapToGrid="0" snapToObjects="1">
      <p:cViewPr varScale="1">
        <p:scale>
          <a:sx n="99" d="100"/>
          <a:sy n="99" d="100"/>
        </p:scale>
        <p:origin x="510" y="39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isha Makkar" userId="S::302288@derby.ac.uk::e6fb1a99-03d7-4bd9-bbd3-188f50b7241c" providerId="AD" clId="Web-{DEBB6475-DE02-2EFA-EF6D-A4A5D8AF1FDF}"/>
    <pc:docChg chg="modSld">
      <pc:chgData name="Aaisha Makkar" userId="S::302288@derby.ac.uk::e6fb1a99-03d7-4bd9-bbd3-188f50b7241c" providerId="AD" clId="Web-{DEBB6475-DE02-2EFA-EF6D-A4A5D8AF1FDF}" dt="2025-10-02T22:38:46.759" v="1" actId="20577"/>
      <pc:docMkLst>
        <pc:docMk/>
      </pc:docMkLst>
      <pc:sldChg chg="modSp">
        <pc:chgData name="Aaisha Makkar" userId="S::302288@derby.ac.uk::e6fb1a99-03d7-4bd9-bbd3-188f50b7241c" providerId="AD" clId="Web-{DEBB6475-DE02-2EFA-EF6D-A4A5D8AF1FDF}" dt="2025-10-02T22:38:46.759" v="1" actId="20577"/>
        <pc:sldMkLst>
          <pc:docMk/>
          <pc:sldMk cId="2413352080" sldId="256"/>
        </pc:sldMkLst>
        <pc:spChg chg="mod">
          <ac:chgData name="Aaisha Makkar" userId="S::302288@derby.ac.uk::e6fb1a99-03d7-4bd9-bbd3-188f50b7241c" providerId="AD" clId="Web-{DEBB6475-DE02-2EFA-EF6D-A4A5D8AF1FDF}" dt="2025-10-02T22:38:46.759" v="1" actId="20577"/>
          <ac:spMkLst>
            <pc:docMk/>
            <pc:sldMk cId="2413352080" sldId="25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085E17-8F6C-0E42-A0DB-A87E4ECCA4A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C611D8-1642-004C-8003-04A1B2B36D66}">
      <dgm:prSet phldrT="[Text]"/>
      <dgm:spPr>
        <a:xfrm>
          <a:off x="392430" y="61699"/>
          <a:ext cx="3208013" cy="73800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Misconceptions:</a:t>
          </a:r>
        </a:p>
      </dgm:t>
    </dgm:pt>
    <dgm:pt modelId="{0B13912A-B10C-4642-9DD5-F0E7EC3F0F98}" type="parTrans" cxnId="{85A0D548-EA48-2245-A16E-D3BFA801E777}">
      <dgm:prSet/>
      <dgm:spPr/>
      <dgm:t>
        <a:bodyPr/>
        <a:lstStyle/>
        <a:p>
          <a:endParaRPr lang="en-US"/>
        </a:p>
      </dgm:t>
    </dgm:pt>
    <dgm:pt modelId="{6236AFCE-D97B-1843-AF8F-BC0C311ED48E}" type="sibTrans" cxnId="{85A0D548-EA48-2245-A16E-D3BFA801E777}">
      <dgm:prSet/>
      <dgm:spPr/>
      <dgm:t>
        <a:bodyPr/>
        <a:lstStyle/>
        <a:p>
          <a:endParaRPr lang="en-US"/>
        </a:p>
      </dgm:t>
    </dgm:pt>
    <dgm:pt modelId="{413CB882-8354-B041-9B6B-C4FC0DDCC312}">
      <dgm:prSet/>
      <dgm:spPr>
        <a:xfrm>
          <a:off x="0" y="430700"/>
          <a:ext cx="7848600" cy="28350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99323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en-US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More secure from cryptanalysis than conventional encryption</a:t>
          </a:r>
        </a:p>
      </dgm:t>
    </dgm:pt>
    <dgm:pt modelId="{FE78B6B1-B016-C645-ACF6-46BE6CA21F07}" type="parTrans" cxnId="{B92F67F2-6FB1-E74C-BC9A-2C29C2C798B0}">
      <dgm:prSet/>
      <dgm:spPr/>
      <dgm:t>
        <a:bodyPr/>
        <a:lstStyle/>
        <a:p>
          <a:endParaRPr lang="en-US"/>
        </a:p>
      </dgm:t>
    </dgm:pt>
    <dgm:pt modelId="{1C3934C2-F8C2-0445-964B-3B003A1ACBB4}" type="sibTrans" cxnId="{B92F67F2-6FB1-E74C-BC9A-2C29C2C798B0}">
      <dgm:prSet/>
      <dgm:spPr/>
      <dgm:t>
        <a:bodyPr/>
        <a:lstStyle/>
        <a:p>
          <a:endParaRPr lang="en-US"/>
        </a:p>
      </dgm:t>
    </dgm:pt>
    <dgm:pt modelId="{F218DF49-76B0-FD42-ACA3-9CEDF6E75260}">
      <dgm:prSet/>
      <dgm:spPr>
        <a:xfrm>
          <a:off x="0" y="430700"/>
          <a:ext cx="7848600" cy="28350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99323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en-US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General-purpose technique that has made conventional encryption obsolete</a:t>
          </a:r>
        </a:p>
      </dgm:t>
    </dgm:pt>
    <dgm:pt modelId="{DA411FE7-F33A-A648-9DFE-87E7EE3F2216}" type="parTrans" cxnId="{558B1B92-563C-DB49-8AE8-D26EBA664CE1}">
      <dgm:prSet/>
      <dgm:spPr/>
      <dgm:t>
        <a:bodyPr/>
        <a:lstStyle/>
        <a:p>
          <a:endParaRPr lang="en-US"/>
        </a:p>
      </dgm:t>
    </dgm:pt>
    <dgm:pt modelId="{EF6B33D5-B285-9546-9DF3-7EAD30661BD5}" type="sibTrans" cxnId="{558B1B92-563C-DB49-8AE8-D26EBA664CE1}">
      <dgm:prSet/>
      <dgm:spPr/>
      <dgm:t>
        <a:bodyPr/>
        <a:lstStyle/>
        <a:p>
          <a:endParaRPr lang="en-US"/>
        </a:p>
      </dgm:t>
    </dgm:pt>
    <dgm:pt modelId="{61C31194-F049-EA43-BBA9-17C2D5783832}">
      <dgm:prSet/>
      <dgm:spPr>
        <a:xfrm>
          <a:off x="0" y="430700"/>
          <a:ext cx="7848600" cy="28350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99323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en-US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Key distribution is trivial when using public-key encryption </a:t>
          </a:r>
        </a:p>
      </dgm:t>
    </dgm:pt>
    <dgm:pt modelId="{05C38978-983F-1B4B-B006-7CF01E3E0E53}" type="parTrans" cxnId="{0FCCA785-051A-C649-9862-6DC6906EA877}">
      <dgm:prSet/>
      <dgm:spPr/>
      <dgm:t>
        <a:bodyPr/>
        <a:lstStyle/>
        <a:p>
          <a:endParaRPr lang="en-US"/>
        </a:p>
      </dgm:t>
    </dgm:pt>
    <dgm:pt modelId="{9C4F92C7-B18D-3249-AB33-5C55F632525A}" type="sibTrans" cxnId="{0FCCA785-051A-C649-9862-6DC6906EA877}">
      <dgm:prSet/>
      <dgm:spPr/>
      <dgm:t>
        <a:bodyPr/>
        <a:lstStyle/>
        <a:p>
          <a:endParaRPr lang="en-US"/>
        </a:p>
      </dgm:t>
    </dgm:pt>
    <dgm:pt modelId="{3292BABC-D5C4-384A-AD38-0E8D70629DCC}" type="pres">
      <dgm:prSet presAssocID="{4E085E17-8F6C-0E42-A0DB-A87E4ECCA4A3}" presName="linear" presStyleCnt="0">
        <dgm:presLayoutVars>
          <dgm:dir/>
          <dgm:animLvl val="lvl"/>
          <dgm:resizeHandles val="exact"/>
        </dgm:presLayoutVars>
      </dgm:prSet>
      <dgm:spPr/>
    </dgm:pt>
    <dgm:pt modelId="{031A07B9-2549-1D4B-90DD-889498B867E2}" type="pres">
      <dgm:prSet presAssocID="{A1C611D8-1642-004C-8003-04A1B2B36D66}" presName="parentLin" presStyleCnt="0"/>
      <dgm:spPr/>
    </dgm:pt>
    <dgm:pt modelId="{F01E624E-9948-F047-BBDF-D726B1BF8E98}" type="pres">
      <dgm:prSet presAssocID="{A1C611D8-1642-004C-8003-04A1B2B36D66}" presName="parentLeftMargin" presStyleLbl="node1" presStyleIdx="0" presStyleCnt="1"/>
      <dgm:spPr/>
    </dgm:pt>
    <dgm:pt modelId="{2FF598B2-38A5-D546-B459-90779C80D4EA}" type="pres">
      <dgm:prSet presAssocID="{A1C611D8-1642-004C-8003-04A1B2B36D66}" presName="parentText" presStyleLbl="node1" presStyleIdx="0" presStyleCnt="1" custScaleX="58391">
        <dgm:presLayoutVars>
          <dgm:chMax val="0"/>
          <dgm:bulletEnabled val="1"/>
        </dgm:presLayoutVars>
      </dgm:prSet>
      <dgm:spPr/>
    </dgm:pt>
    <dgm:pt modelId="{205C11FE-4942-084A-9137-1A623FBAC6C3}" type="pres">
      <dgm:prSet presAssocID="{A1C611D8-1642-004C-8003-04A1B2B36D66}" presName="negativeSpace" presStyleCnt="0"/>
      <dgm:spPr/>
    </dgm:pt>
    <dgm:pt modelId="{FF07EFA0-75D7-BE47-9738-A18CE986A1E5}" type="pres">
      <dgm:prSet presAssocID="{A1C611D8-1642-004C-8003-04A1B2B36D6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2D46C02-AED2-401D-93D6-4899BBA61205}" type="presOf" srcId="{4E085E17-8F6C-0E42-A0DB-A87E4ECCA4A3}" destId="{3292BABC-D5C4-384A-AD38-0E8D70629DCC}" srcOrd="0" destOrd="0" presId="urn:microsoft.com/office/officeart/2005/8/layout/list1"/>
    <dgm:cxn modelId="{85A0D548-EA48-2245-A16E-D3BFA801E777}" srcId="{4E085E17-8F6C-0E42-A0DB-A87E4ECCA4A3}" destId="{A1C611D8-1642-004C-8003-04A1B2B36D66}" srcOrd="0" destOrd="0" parTransId="{0B13912A-B10C-4642-9DD5-F0E7EC3F0F98}" sibTransId="{6236AFCE-D97B-1843-AF8F-BC0C311ED48E}"/>
    <dgm:cxn modelId="{026A1A85-2D1D-4153-9115-B59D18AB11C3}" type="presOf" srcId="{F218DF49-76B0-FD42-ACA3-9CEDF6E75260}" destId="{FF07EFA0-75D7-BE47-9738-A18CE986A1E5}" srcOrd="0" destOrd="1" presId="urn:microsoft.com/office/officeart/2005/8/layout/list1"/>
    <dgm:cxn modelId="{0FCCA785-051A-C649-9862-6DC6906EA877}" srcId="{A1C611D8-1642-004C-8003-04A1B2B36D66}" destId="{61C31194-F049-EA43-BBA9-17C2D5783832}" srcOrd="2" destOrd="0" parTransId="{05C38978-983F-1B4B-B006-7CF01E3E0E53}" sibTransId="{9C4F92C7-B18D-3249-AB33-5C55F632525A}"/>
    <dgm:cxn modelId="{E8EEF788-8AF6-4D05-82EF-E0CCB4F1926F}" type="presOf" srcId="{413CB882-8354-B041-9B6B-C4FC0DDCC312}" destId="{FF07EFA0-75D7-BE47-9738-A18CE986A1E5}" srcOrd="0" destOrd="0" presId="urn:microsoft.com/office/officeart/2005/8/layout/list1"/>
    <dgm:cxn modelId="{558B1B92-563C-DB49-8AE8-D26EBA664CE1}" srcId="{A1C611D8-1642-004C-8003-04A1B2B36D66}" destId="{F218DF49-76B0-FD42-ACA3-9CEDF6E75260}" srcOrd="1" destOrd="0" parTransId="{DA411FE7-F33A-A648-9DFE-87E7EE3F2216}" sibTransId="{EF6B33D5-B285-9546-9DF3-7EAD30661BD5}"/>
    <dgm:cxn modelId="{B97D8EB0-4664-4F9D-8CC0-EC02C2C2AFCC}" type="presOf" srcId="{A1C611D8-1642-004C-8003-04A1B2B36D66}" destId="{2FF598B2-38A5-D546-B459-90779C80D4EA}" srcOrd="1" destOrd="0" presId="urn:microsoft.com/office/officeart/2005/8/layout/list1"/>
    <dgm:cxn modelId="{7ABA4CB6-D8DF-40B5-81B6-DB04CF9676D4}" type="presOf" srcId="{61C31194-F049-EA43-BBA9-17C2D5783832}" destId="{FF07EFA0-75D7-BE47-9738-A18CE986A1E5}" srcOrd="0" destOrd="2" presId="urn:microsoft.com/office/officeart/2005/8/layout/list1"/>
    <dgm:cxn modelId="{9882E5C7-73AF-446F-A0DF-FD72CAEEDB7F}" type="presOf" srcId="{A1C611D8-1642-004C-8003-04A1B2B36D66}" destId="{F01E624E-9948-F047-BBDF-D726B1BF8E98}" srcOrd="0" destOrd="0" presId="urn:microsoft.com/office/officeart/2005/8/layout/list1"/>
    <dgm:cxn modelId="{B92F67F2-6FB1-E74C-BC9A-2C29C2C798B0}" srcId="{A1C611D8-1642-004C-8003-04A1B2B36D66}" destId="{413CB882-8354-B041-9B6B-C4FC0DDCC312}" srcOrd="0" destOrd="0" parTransId="{FE78B6B1-B016-C645-ACF6-46BE6CA21F07}" sibTransId="{1C3934C2-F8C2-0445-964B-3B003A1ACBB4}"/>
    <dgm:cxn modelId="{03854F35-EAD9-42D7-994E-BE7C86835995}" type="presParOf" srcId="{3292BABC-D5C4-384A-AD38-0E8D70629DCC}" destId="{031A07B9-2549-1D4B-90DD-889498B867E2}" srcOrd="0" destOrd="0" presId="urn:microsoft.com/office/officeart/2005/8/layout/list1"/>
    <dgm:cxn modelId="{21E5CAA3-3E41-44EF-8BD7-09D446EC8100}" type="presParOf" srcId="{031A07B9-2549-1D4B-90DD-889498B867E2}" destId="{F01E624E-9948-F047-BBDF-D726B1BF8E98}" srcOrd="0" destOrd="0" presId="urn:microsoft.com/office/officeart/2005/8/layout/list1"/>
    <dgm:cxn modelId="{5ED9D0B0-1625-4BF1-BC82-132F9DE65FB3}" type="presParOf" srcId="{031A07B9-2549-1D4B-90DD-889498B867E2}" destId="{2FF598B2-38A5-D546-B459-90779C80D4EA}" srcOrd="1" destOrd="0" presId="urn:microsoft.com/office/officeart/2005/8/layout/list1"/>
    <dgm:cxn modelId="{9B084C95-9EFE-43E5-BEBC-4F7DBFBFD99F}" type="presParOf" srcId="{3292BABC-D5C4-384A-AD38-0E8D70629DCC}" destId="{205C11FE-4942-084A-9137-1A623FBAC6C3}" srcOrd="1" destOrd="0" presId="urn:microsoft.com/office/officeart/2005/8/layout/list1"/>
    <dgm:cxn modelId="{56F33748-891D-4721-880C-70D9230DF029}" type="presParOf" srcId="{3292BABC-D5C4-384A-AD38-0E8D70629DCC}" destId="{FF07EFA0-75D7-BE47-9738-A18CE986A1E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1CC1AA-504E-C64E-BAF1-BF838230D7FB}" type="doc">
      <dgm:prSet loTypeId="urn:microsoft.com/office/officeart/2005/8/layout/hierarchy2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38E187-4B69-124C-AE33-51945204E05B}">
      <dgm:prSet phldrT="[Text]"/>
      <dgm:spPr>
        <a:xfrm>
          <a:off x="1038969" y="1036066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use of public-key cryptosystems can be classified into three categories:</a:t>
          </a:r>
        </a:p>
      </dgm:t>
    </dgm:pt>
    <dgm:pt modelId="{9D93AB02-4D96-F947-9D2B-97BBA467994F}" type="parTrans" cxnId="{C3700823-63D7-1B44-A60C-89BDE8E65BEC}">
      <dgm:prSet/>
      <dgm:spPr/>
      <dgm:t>
        <a:bodyPr/>
        <a:lstStyle/>
        <a:p>
          <a:endParaRPr lang="en-US"/>
        </a:p>
      </dgm:t>
    </dgm:pt>
    <dgm:pt modelId="{57EDD0A7-872D-0546-AC85-76D14D167B28}" type="sibTrans" cxnId="{C3700823-63D7-1B44-A60C-89BDE8E65BEC}">
      <dgm:prSet/>
      <dgm:spPr/>
      <dgm:t>
        <a:bodyPr/>
        <a:lstStyle/>
        <a:p>
          <a:endParaRPr lang="en-US"/>
        </a:p>
      </dgm:t>
    </dgm:pt>
    <dgm:pt modelId="{8C39B675-8E40-444A-88F8-FBE77523B939}">
      <dgm:prSet/>
      <dgm:spPr>
        <a:xfrm>
          <a:off x="3558033" y="1451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Encryption/decryption</a:t>
          </a:r>
        </a:p>
      </dgm:t>
    </dgm:pt>
    <dgm:pt modelId="{6B33DDDE-CCD6-BD4B-AFEA-F71192AC914D}" type="parTrans" cxnId="{597188F4-3403-A84A-987F-B363BD59BD2B}">
      <dgm:prSet/>
      <dgm:spPr>
        <a:xfrm rot="18289469">
          <a:off x="2567999" y="941345"/>
          <a:ext cx="12603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60335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FF707914-2B4A-D049-BB73-18E3E9191BB5}" type="sibTrans" cxnId="{597188F4-3403-A84A-987F-B363BD59BD2B}">
      <dgm:prSet/>
      <dgm:spPr/>
      <dgm:t>
        <a:bodyPr/>
        <a:lstStyle/>
        <a:p>
          <a:endParaRPr lang="en-US"/>
        </a:p>
      </dgm:t>
    </dgm:pt>
    <dgm:pt modelId="{4C1DD2E0-FEF2-A849-B655-AD658BDA9CE8}">
      <dgm:prSet/>
      <dgm:spPr>
        <a:xfrm>
          <a:off x="6077098" y="1451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sender encrypts a message with the recipient’s public key</a:t>
          </a:r>
        </a:p>
      </dgm:t>
    </dgm:pt>
    <dgm:pt modelId="{1C4BE5F7-C7BB-654B-AA5A-2DDD9F4EA2CE}" type="parTrans" cxnId="{B0DDCBE0-C640-F448-ADDB-FA2643645E16}">
      <dgm:prSet/>
      <dgm:spPr>
        <a:xfrm>
          <a:off x="5357366" y="424037"/>
          <a:ext cx="71973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18BF8F88-20C7-8540-A4F6-300DDEF53530}" type="sibTrans" cxnId="{B0DDCBE0-C640-F448-ADDB-FA2643645E16}">
      <dgm:prSet/>
      <dgm:spPr/>
      <dgm:t>
        <a:bodyPr/>
        <a:lstStyle/>
        <a:p>
          <a:endParaRPr lang="en-US"/>
        </a:p>
      </dgm:t>
    </dgm:pt>
    <dgm:pt modelId="{DCAD3C8C-D3A1-494B-B407-6E3997E313B1}">
      <dgm:prSet/>
      <dgm:spPr>
        <a:xfrm>
          <a:off x="3558033" y="1036066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Digital signature</a:t>
          </a:r>
        </a:p>
      </dgm:t>
    </dgm:pt>
    <dgm:pt modelId="{02212BD7-701C-5342-A220-8EA0EB6362F6}" type="parTrans" cxnId="{0C883845-6A37-E045-9A98-DE4D420FD484}">
      <dgm:prSet/>
      <dgm:spPr>
        <a:xfrm>
          <a:off x="2838301" y="1458653"/>
          <a:ext cx="71973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D412C250-29C1-0149-9626-D76C0A682A54}" type="sibTrans" cxnId="{0C883845-6A37-E045-9A98-DE4D420FD484}">
      <dgm:prSet/>
      <dgm:spPr/>
      <dgm:t>
        <a:bodyPr/>
        <a:lstStyle/>
        <a:p>
          <a:endParaRPr lang="en-US"/>
        </a:p>
      </dgm:t>
    </dgm:pt>
    <dgm:pt modelId="{3CF86EA2-DC0D-A844-8D84-0658BFDCEB54}">
      <dgm:prSet/>
      <dgm:spPr>
        <a:xfrm>
          <a:off x="6077098" y="1036066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sender “signs” a message with its private key</a:t>
          </a:r>
        </a:p>
      </dgm:t>
    </dgm:pt>
    <dgm:pt modelId="{D25F07B8-F6E5-D844-AB43-E5D68C864D8E}" type="parTrans" cxnId="{BC88D779-A5EC-B448-AD53-4B5933331924}">
      <dgm:prSet/>
      <dgm:spPr>
        <a:xfrm>
          <a:off x="5357366" y="1458653"/>
          <a:ext cx="71973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F36AC868-87F3-4847-8E22-CFE9839D3EC0}" type="sibTrans" cxnId="{BC88D779-A5EC-B448-AD53-4B5933331924}">
      <dgm:prSet/>
      <dgm:spPr/>
      <dgm:t>
        <a:bodyPr/>
        <a:lstStyle/>
        <a:p>
          <a:endParaRPr lang="en-US"/>
        </a:p>
      </dgm:t>
    </dgm:pt>
    <dgm:pt modelId="{8C490BC1-E62F-5748-8855-CD07406C02B7}">
      <dgm:prSet/>
      <dgm:spPr>
        <a:xfrm>
          <a:off x="3558033" y="2070682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Key exchange </a:t>
          </a:r>
        </a:p>
      </dgm:t>
    </dgm:pt>
    <dgm:pt modelId="{8BC34DD2-A2A2-224B-939E-B06E02578E8E}" type="parTrans" cxnId="{CDF8F66C-1671-CC4F-A780-47D4DB222EC6}">
      <dgm:prSet/>
      <dgm:spPr>
        <a:xfrm rot="3310531">
          <a:off x="2567999" y="1975961"/>
          <a:ext cx="12603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60335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97900109-B5E4-914F-8331-D9D463D42009}" type="sibTrans" cxnId="{CDF8F66C-1671-CC4F-A780-47D4DB222EC6}">
      <dgm:prSet/>
      <dgm:spPr/>
      <dgm:t>
        <a:bodyPr/>
        <a:lstStyle/>
        <a:p>
          <a:endParaRPr lang="en-US"/>
        </a:p>
      </dgm:t>
    </dgm:pt>
    <dgm:pt modelId="{C6C48DB5-DFAF-C74A-9896-438F52068D15}">
      <dgm:prSet/>
      <dgm:spPr>
        <a:xfrm>
          <a:off x="6077098" y="2070682"/>
          <a:ext cx="1799332" cy="8996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gm:spPr>
      <dgm:t>
        <a:bodyPr/>
        <a:lstStyle/>
        <a:p>
          <a:pPr>
            <a:buNone/>
          </a:pPr>
          <a:r>
            <a:rPr lang="en-US" b="0" i="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Two sides cooperate to exchange a session key</a:t>
          </a:r>
        </a:p>
      </dgm:t>
    </dgm:pt>
    <dgm:pt modelId="{F31C8520-A3A1-8C46-A54E-0D1EEC76191C}" type="parTrans" cxnId="{90276E3B-9E41-B148-8312-BD5D6F4B33D9}">
      <dgm:prSet/>
      <dgm:spPr>
        <a:xfrm>
          <a:off x="5357366" y="2493269"/>
          <a:ext cx="71973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gm:t>
    </dgm:pt>
    <dgm:pt modelId="{6858E76E-EC7C-9248-A556-E84DF44BE2EA}" type="sibTrans" cxnId="{90276E3B-9E41-B148-8312-BD5D6F4B33D9}">
      <dgm:prSet/>
      <dgm:spPr/>
      <dgm:t>
        <a:bodyPr/>
        <a:lstStyle/>
        <a:p>
          <a:endParaRPr lang="en-US"/>
        </a:p>
      </dgm:t>
    </dgm:pt>
    <dgm:pt modelId="{CB51D24D-7A82-FF41-B64E-106B2D7BB329}" type="pres">
      <dgm:prSet presAssocID="{371CC1AA-504E-C64E-BAF1-BF838230D7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9609092-2B91-A14B-8164-DDE6310380AB}" type="pres">
      <dgm:prSet presAssocID="{6838E187-4B69-124C-AE33-51945204E05B}" presName="root1" presStyleCnt="0"/>
      <dgm:spPr/>
    </dgm:pt>
    <dgm:pt modelId="{A1317074-7E4E-1640-86BF-92D26868AEB3}" type="pres">
      <dgm:prSet presAssocID="{6838E187-4B69-124C-AE33-51945204E05B}" presName="LevelOneTextNode" presStyleLbl="node0" presStyleIdx="0" presStyleCnt="1">
        <dgm:presLayoutVars>
          <dgm:chPref val="3"/>
        </dgm:presLayoutVars>
      </dgm:prSet>
      <dgm:spPr/>
    </dgm:pt>
    <dgm:pt modelId="{8E77710E-A52C-AB4D-BFFA-B4B007D2A3B8}" type="pres">
      <dgm:prSet presAssocID="{6838E187-4B69-124C-AE33-51945204E05B}" presName="level2hierChild" presStyleCnt="0"/>
      <dgm:spPr/>
    </dgm:pt>
    <dgm:pt modelId="{F71DF7E7-8D91-8B44-A74C-92E995DD8351}" type="pres">
      <dgm:prSet presAssocID="{6B33DDDE-CCD6-BD4B-AFEA-F71192AC914D}" presName="conn2-1" presStyleLbl="parChTrans1D2" presStyleIdx="0" presStyleCnt="3"/>
      <dgm:spPr/>
    </dgm:pt>
    <dgm:pt modelId="{0CEAD131-D20D-C54D-8BB9-C79354993EF0}" type="pres">
      <dgm:prSet presAssocID="{6B33DDDE-CCD6-BD4B-AFEA-F71192AC914D}" presName="connTx" presStyleLbl="parChTrans1D2" presStyleIdx="0" presStyleCnt="3"/>
      <dgm:spPr/>
    </dgm:pt>
    <dgm:pt modelId="{7E03E767-0C2E-8E4A-933D-F2B41D726917}" type="pres">
      <dgm:prSet presAssocID="{8C39B675-8E40-444A-88F8-FBE77523B939}" presName="root2" presStyleCnt="0"/>
      <dgm:spPr/>
    </dgm:pt>
    <dgm:pt modelId="{F3FD7585-FA72-FB45-8B09-748DC059D495}" type="pres">
      <dgm:prSet presAssocID="{8C39B675-8E40-444A-88F8-FBE77523B939}" presName="LevelTwoTextNode" presStyleLbl="node2" presStyleIdx="0" presStyleCnt="3">
        <dgm:presLayoutVars>
          <dgm:chPref val="3"/>
        </dgm:presLayoutVars>
      </dgm:prSet>
      <dgm:spPr/>
    </dgm:pt>
    <dgm:pt modelId="{8304853B-3C72-5647-89E5-284E38234A78}" type="pres">
      <dgm:prSet presAssocID="{8C39B675-8E40-444A-88F8-FBE77523B939}" presName="level3hierChild" presStyleCnt="0"/>
      <dgm:spPr/>
    </dgm:pt>
    <dgm:pt modelId="{F0E737A8-9061-0244-A444-584F576FE7C5}" type="pres">
      <dgm:prSet presAssocID="{1C4BE5F7-C7BB-654B-AA5A-2DDD9F4EA2CE}" presName="conn2-1" presStyleLbl="parChTrans1D3" presStyleIdx="0" presStyleCnt="3"/>
      <dgm:spPr/>
    </dgm:pt>
    <dgm:pt modelId="{CFAD8DDD-488A-F743-A955-C7D21705AF2F}" type="pres">
      <dgm:prSet presAssocID="{1C4BE5F7-C7BB-654B-AA5A-2DDD9F4EA2CE}" presName="connTx" presStyleLbl="parChTrans1D3" presStyleIdx="0" presStyleCnt="3"/>
      <dgm:spPr/>
    </dgm:pt>
    <dgm:pt modelId="{2E6A7B54-EDFD-3649-8B37-5EFCFC478BD8}" type="pres">
      <dgm:prSet presAssocID="{4C1DD2E0-FEF2-A849-B655-AD658BDA9CE8}" presName="root2" presStyleCnt="0"/>
      <dgm:spPr/>
    </dgm:pt>
    <dgm:pt modelId="{70A800DC-72BC-AA40-BDEB-5EF377BAE363}" type="pres">
      <dgm:prSet presAssocID="{4C1DD2E0-FEF2-A849-B655-AD658BDA9CE8}" presName="LevelTwoTextNode" presStyleLbl="node3" presStyleIdx="0" presStyleCnt="3">
        <dgm:presLayoutVars>
          <dgm:chPref val="3"/>
        </dgm:presLayoutVars>
      </dgm:prSet>
      <dgm:spPr/>
    </dgm:pt>
    <dgm:pt modelId="{DD54FB27-3D90-484A-915C-069A7A2AAAD3}" type="pres">
      <dgm:prSet presAssocID="{4C1DD2E0-FEF2-A849-B655-AD658BDA9CE8}" presName="level3hierChild" presStyleCnt="0"/>
      <dgm:spPr/>
    </dgm:pt>
    <dgm:pt modelId="{2F83DCCC-BC0C-5F4C-9C53-0F23FE1B330C}" type="pres">
      <dgm:prSet presAssocID="{02212BD7-701C-5342-A220-8EA0EB6362F6}" presName="conn2-1" presStyleLbl="parChTrans1D2" presStyleIdx="1" presStyleCnt="3"/>
      <dgm:spPr/>
    </dgm:pt>
    <dgm:pt modelId="{C586BD24-34B5-3B4C-9894-DC1EB3A5627A}" type="pres">
      <dgm:prSet presAssocID="{02212BD7-701C-5342-A220-8EA0EB6362F6}" presName="connTx" presStyleLbl="parChTrans1D2" presStyleIdx="1" presStyleCnt="3"/>
      <dgm:spPr/>
    </dgm:pt>
    <dgm:pt modelId="{766B4232-FDF0-A246-95C3-027384ACCCED}" type="pres">
      <dgm:prSet presAssocID="{DCAD3C8C-D3A1-494B-B407-6E3997E313B1}" presName="root2" presStyleCnt="0"/>
      <dgm:spPr/>
    </dgm:pt>
    <dgm:pt modelId="{E1332030-32E7-C444-B670-F2423325C78A}" type="pres">
      <dgm:prSet presAssocID="{DCAD3C8C-D3A1-494B-B407-6E3997E313B1}" presName="LevelTwoTextNode" presStyleLbl="node2" presStyleIdx="1" presStyleCnt="3">
        <dgm:presLayoutVars>
          <dgm:chPref val="3"/>
        </dgm:presLayoutVars>
      </dgm:prSet>
      <dgm:spPr/>
    </dgm:pt>
    <dgm:pt modelId="{272D0741-072E-6A45-A12D-A7CE318B1D61}" type="pres">
      <dgm:prSet presAssocID="{DCAD3C8C-D3A1-494B-B407-6E3997E313B1}" presName="level3hierChild" presStyleCnt="0"/>
      <dgm:spPr/>
    </dgm:pt>
    <dgm:pt modelId="{D85FA3C9-0AAC-F044-9799-2273BA0E0838}" type="pres">
      <dgm:prSet presAssocID="{D25F07B8-F6E5-D844-AB43-E5D68C864D8E}" presName="conn2-1" presStyleLbl="parChTrans1D3" presStyleIdx="1" presStyleCnt="3"/>
      <dgm:spPr/>
    </dgm:pt>
    <dgm:pt modelId="{5CAB6F46-D262-A54B-929A-2B0B61C2F4AA}" type="pres">
      <dgm:prSet presAssocID="{D25F07B8-F6E5-D844-AB43-E5D68C864D8E}" presName="connTx" presStyleLbl="parChTrans1D3" presStyleIdx="1" presStyleCnt="3"/>
      <dgm:spPr/>
    </dgm:pt>
    <dgm:pt modelId="{AF0415BB-823A-BC4A-ACB0-96EE66E4AE0D}" type="pres">
      <dgm:prSet presAssocID="{3CF86EA2-DC0D-A844-8D84-0658BFDCEB54}" presName="root2" presStyleCnt="0"/>
      <dgm:spPr/>
    </dgm:pt>
    <dgm:pt modelId="{19BF3F60-223A-1344-ADE1-8BEFD6F334E4}" type="pres">
      <dgm:prSet presAssocID="{3CF86EA2-DC0D-A844-8D84-0658BFDCEB54}" presName="LevelTwoTextNode" presStyleLbl="node3" presStyleIdx="1" presStyleCnt="3">
        <dgm:presLayoutVars>
          <dgm:chPref val="3"/>
        </dgm:presLayoutVars>
      </dgm:prSet>
      <dgm:spPr/>
    </dgm:pt>
    <dgm:pt modelId="{F45A42F7-6804-7F4D-BFEF-987828A95A2B}" type="pres">
      <dgm:prSet presAssocID="{3CF86EA2-DC0D-A844-8D84-0658BFDCEB54}" presName="level3hierChild" presStyleCnt="0"/>
      <dgm:spPr/>
    </dgm:pt>
    <dgm:pt modelId="{265FC26E-5D46-5548-A66A-8FE265B86E6A}" type="pres">
      <dgm:prSet presAssocID="{8BC34DD2-A2A2-224B-939E-B06E02578E8E}" presName="conn2-1" presStyleLbl="parChTrans1D2" presStyleIdx="2" presStyleCnt="3"/>
      <dgm:spPr/>
    </dgm:pt>
    <dgm:pt modelId="{FA975E78-984B-1647-8621-104E0F104422}" type="pres">
      <dgm:prSet presAssocID="{8BC34DD2-A2A2-224B-939E-B06E02578E8E}" presName="connTx" presStyleLbl="parChTrans1D2" presStyleIdx="2" presStyleCnt="3"/>
      <dgm:spPr/>
    </dgm:pt>
    <dgm:pt modelId="{2018088C-0974-2246-90B3-04643E3B993F}" type="pres">
      <dgm:prSet presAssocID="{8C490BC1-E62F-5748-8855-CD07406C02B7}" presName="root2" presStyleCnt="0"/>
      <dgm:spPr/>
    </dgm:pt>
    <dgm:pt modelId="{9C59387D-E86C-0A46-829D-CA2BC51C1C58}" type="pres">
      <dgm:prSet presAssocID="{8C490BC1-E62F-5748-8855-CD07406C02B7}" presName="LevelTwoTextNode" presStyleLbl="node2" presStyleIdx="2" presStyleCnt="3">
        <dgm:presLayoutVars>
          <dgm:chPref val="3"/>
        </dgm:presLayoutVars>
      </dgm:prSet>
      <dgm:spPr/>
    </dgm:pt>
    <dgm:pt modelId="{5534C5D9-013C-5D4B-8452-7AEC897E8D6B}" type="pres">
      <dgm:prSet presAssocID="{8C490BC1-E62F-5748-8855-CD07406C02B7}" presName="level3hierChild" presStyleCnt="0"/>
      <dgm:spPr/>
    </dgm:pt>
    <dgm:pt modelId="{F81D28AA-68F5-6940-BCDC-574DEFE00089}" type="pres">
      <dgm:prSet presAssocID="{F31C8520-A3A1-8C46-A54E-0D1EEC76191C}" presName="conn2-1" presStyleLbl="parChTrans1D3" presStyleIdx="2" presStyleCnt="3"/>
      <dgm:spPr/>
    </dgm:pt>
    <dgm:pt modelId="{BC33F666-A9F1-2A41-B2B9-063ECC0DF3E2}" type="pres">
      <dgm:prSet presAssocID="{F31C8520-A3A1-8C46-A54E-0D1EEC76191C}" presName="connTx" presStyleLbl="parChTrans1D3" presStyleIdx="2" presStyleCnt="3"/>
      <dgm:spPr/>
    </dgm:pt>
    <dgm:pt modelId="{52A2C549-5FB7-6842-9E9C-482D17CFB488}" type="pres">
      <dgm:prSet presAssocID="{C6C48DB5-DFAF-C74A-9896-438F52068D15}" presName="root2" presStyleCnt="0"/>
      <dgm:spPr/>
    </dgm:pt>
    <dgm:pt modelId="{F14AF6C4-852C-5A49-9F48-B47F405D651F}" type="pres">
      <dgm:prSet presAssocID="{C6C48DB5-DFAF-C74A-9896-438F52068D15}" presName="LevelTwoTextNode" presStyleLbl="node3" presStyleIdx="2" presStyleCnt="3">
        <dgm:presLayoutVars>
          <dgm:chPref val="3"/>
        </dgm:presLayoutVars>
      </dgm:prSet>
      <dgm:spPr/>
    </dgm:pt>
    <dgm:pt modelId="{7B5FF3E8-3410-B044-8078-0509AF79894B}" type="pres">
      <dgm:prSet presAssocID="{C6C48DB5-DFAF-C74A-9896-438F52068D15}" presName="level3hierChild" presStyleCnt="0"/>
      <dgm:spPr/>
    </dgm:pt>
  </dgm:ptLst>
  <dgm:cxnLst>
    <dgm:cxn modelId="{ECD47D0B-9203-4DD1-96CD-80B98EA8E9ED}" type="presOf" srcId="{02212BD7-701C-5342-A220-8EA0EB6362F6}" destId="{2F83DCCC-BC0C-5F4C-9C53-0F23FE1B330C}" srcOrd="0" destOrd="0" presId="urn:microsoft.com/office/officeart/2005/8/layout/hierarchy2"/>
    <dgm:cxn modelId="{8BD4DE0B-70B7-4737-A742-16337069428A}" type="presOf" srcId="{6B33DDDE-CCD6-BD4B-AFEA-F71192AC914D}" destId="{0CEAD131-D20D-C54D-8BB9-C79354993EF0}" srcOrd="1" destOrd="0" presId="urn:microsoft.com/office/officeart/2005/8/layout/hierarchy2"/>
    <dgm:cxn modelId="{82646E10-A567-4AD9-A9F2-15B8A199E660}" type="presOf" srcId="{D25F07B8-F6E5-D844-AB43-E5D68C864D8E}" destId="{5CAB6F46-D262-A54B-929A-2B0B61C2F4AA}" srcOrd="1" destOrd="0" presId="urn:microsoft.com/office/officeart/2005/8/layout/hierarchy2"/>
    <dgm:cxn modelId="{85574212-86BB-4B2D-A32D-9AB047137F06}" type="presOf" srcId="{8BC34DD2-A2A2-224B-939E-B06E02578E8E}" destId="{265FC26E-5D46-5548-A66A-8FE265B86E6A}" srcOrd="0" destOrd="0" presId="urn:microsoft.com/office/officeart/2005/8/layout/hierarchy2"/>
    <dgm:cxn modelId="{C3700823-63D7-1B44-A60C-89BDE8E65BEC}" srcId="{371CC1AA-504E-C64E-BAF1-BF838230D7FB}" destId="{6838E187-4B69-124C-AE33-51945204E05B}" srcOrd="0" destOrd="0" parTransId="{9D93AB02-4D96-F947-9D2B-97BBA467994F}" sibTransId="{57EDD0A7-872D-0546-AC85-76D14D167B28}"/>
    <dgm:cxn modelId="{AED45D23-BC8D-4C4B-817E-D03D19F67D78}" type="presOf" srcId="{8C490BC1-E62F-5748-8855-CD07406C02B7}" destId="{9C59387D-E86C-0A46-829D-CA2BC51C1C58}" srcOrd="0" destOrd="0" presId="urn:microsoft.com/office/officeart/2005/8/layout/hierarchy2"/>
    <dgm:cxn modelId="{45B8342C-27E9-4C1D-BACC-2700243E91DB}" type="presOf" srcId="{1C4BE5F7-C7BB-654B-AA5A-2DDD9F4EA2CE}" destId="{F0E737A8-9061-0244-A444-584F576FE7C5}" srcOrd="0" destOrd="0" presId="urn:microsoft.com/office/officeart/2005/8/layout/hierarchy2"/>
    <dgm:cxn modelId="{AA1F4B2C-51EE-4FE8-9687-8248C663D024}" type="presOf" srcId="{3CF86EA2-DC0D-A844-8D84-0658BFDCEB54}" destId="{19BF3F60-223A-1344-ADE1-8BEFD6F334E4}" srcOrd="0" destOrd="0" presId="urn:microsoft.com/office/officeart/2005/8/layout/hierarchy2"/>
    <dgm:cxn modelId="{90276E3B-9E41-B148-8312-BD5D6F4B33D9}" srcId="{8C490BC1-E62F-5748-8855-CD07406C02B7}" destId="{C6C48DB5-DFAF-C74A-9896-438F52068D15}" srcOrd="0" destOrd="0" parTransId="{F31C8520-A3A1-8C46-A54E-0D1EEC76191C}" sibTransId="{6858E76E-EC7C-9248-A556-E84DF44BE2EA}"/>
    <dgm:cxn modelId="{E9C09A3F-9CD9-4583-B5F9-D992E6D271AD}" type="presOf" srcId="{8BC34DD2-A2A2-224B-939E-B06E02578E8E}" destId="{FA975E78-984B-1647-8621-104E0F104422}" srcOrd="1" destOrd="0" presId="urn:microsoft.com/office/officeart/2005/8/layout/hierarchy2"/>
    <dgm:cxn modelId="{9B0D6B60-3B0F-41DF-9C68-251F77F85BFF}" type="presOf" srcId="{F31C8520-A3A1-8C46-A54E-0D1EEC76191C}" destId="{F81D28AA-68F5-6940-BCDC-574DEFE00089}" srcOrd="0" destOrd="0" presId="urn:microsoft.com/office/officeart/2005/8/layout/hierarchy2"/>
    <dgm:cxn modelId="{0C883845-6A37-E045-9A98-DE4D420FD484}" srcId="{6838E187-4B69-124C-AE33-51945204E05B}" destId="{DCAD3C8C-D3A1-494B-B407-6E3997E313B1}" srcOrd="1" destOrd="0" parTransId="{02212BD7-701C-5342-A220-8EA0EB6362F6}" sibTransId="{D412C250-29C1-0149-9626-D76C0A682A54}"/>
    <dgm:cxn modelId="{CDF8F66C-1671-CC4F-A780-47D4DB222EC6}" srcId="{6838E187-4B69-124C-AE33-51945204E05B}" destId="{8C490BC1-E62F-5748-8855-CD07406C02B7}" srcOrd="2" destOrd="0" parTransId="{8BC34DD2-A2A2-224B-939E-B06E02578E8E}" sibTransId="{97900109-B5E4-914F-8331-D9D463D42009}"/>
    <dgm:cxn modelId="{64BE264D-32B5-4C48-A473-1212E3CF3770}" type="presOf" srcId="{8C39B675-8E40-444A-88F8-FBE77523B939}" destId="{F3FD7585-FA72-FB45-8B09-748DC059D495}" srcOrd="0" destOrd="0" presId="urn:microsoft.com/office/officeart/2005/8/layout/hierarchy2"/>
    <dgm:cxn modelId="{B41FAE4D-FAF3-4C74-A6A0-ED6582BB7933}" type="presOf" srcId="{02212BD7-701C-5342-A220-8EA0EB6362F6}" destId="{C586BD24-34B5-3B4C-9894-DC1EB3A5627A}" srcOrd="1" destOrd="0" presId="urn:microsoft.com/office/officeart/2005/8/layout/hierarchy2"/>
    <dgm:cxn modelId="{BC88D779-A5EC-B448-AD53-4B5933331924}" srcId="{DCAD3C8C-D3A1-494B-B407-6E3997E313B1}" destId="{3CF86EA2-DC0D-A844-8D84-0658BFDCEB54}" srcOrd="0" destOrd="0" parTransId="{D25F07B8-F6E5-D844-AB43-E5D68C864D8E}" sibTransId="{F36AC868-87F3-4847-8E22-CFE9839D3EC0}"/>
    <dgm:cxn modelId="{4718B092-44A8-4F69-A0B5-5D0F89CC4FB1}" type="presOf" srcId="{C6C48DB5-DFAF-C74A-9896-438F52068D15}" destId="{F14AF6C4-852C-5A49-9F48-B47F405D651F}" srcOrd="0" destOrd="0" presId="urn:microsoft.com/office/officeart/2005/8/layout/hierarchy2"/>
    <dgm:cxn modelId="{5FA657B2-D4C6-4FD2-947A-60267DB48774}" type="presOf" srcId="{6838E187-4B69-124C-AE33-51945204E05B}" destId="{A1317074-7E4E-1640-86BF-92D26868AEB3}" srcOrd="0" destOrd="0" presId="urn:microsoft.com/office/officeart/2005/8/layout/hierarchy2"/>
    <dgm:cxn modelId="{AD083ACB-078E-4916-8232-FFCABB838FDC}" type="presOf" srcId="{DCAD3C8C-D3A1-494B-B407-6E3997E313B1}" destId="{E1332030-32E7-C444-B670-F2423325C78A}" srcOrd="0" destOrd="0" presId="urn:microsoft.com/office/officeart/2005/8/layout/hierarchy2"/>
    <dgm:cxn modelId="{85B92CD9-BA6E-4092-8FE1-F75F4FF73526}" type="presOf" srcId="{D25F07B8-F6E5-D844-AB43-E5D68C864D8E}" destId="{D85FA3C9-0AAC-F044-9799-2273BA0E0838}" srcOrd="0" destOrd="0" presId="urn:microsoft.com/office/officeart/2005/8/layout/hierarchy2"/>
    <dgm:cxn modelId="{BA3DF4DB-64D6-4CD0-8CD2-BB59C867A9DF}" type="presOf" srcId="{F31C8520-A3A1-8C46-A54E-0D1EEC76191C}" destId="{BC33F666-A9F1-2A41-B2B9-063ECC0DF3E2}" srcOrd="1" destOrd="0" presId="urn:microsoft.com/office/officeart/2005/8/layout/hierarchy2"/>
    <dgm:cxn modelId="{B0DDCBE0-C640-F448-ADDB-FA2643645E16}" srcId="{8C39B675-8E40-444A-88F8-FBE77523B939}" destId="{4C1DD2E0-FEF2-A849-B655-AD658BDA9CE8}" srcOrd="0" destOrd="0" parTransId="{1C4BE5F7-C7BB-654B-AA5A-2DDD9F4EA2CE}" sibTransId="{18BF8F88-20C7-8540-A4F6-300DDEF53530}"/>
    <dgm:cxn modelId="{805218E9-D1BC-483D-A8B8-46C684D711A8}" type="presOf" srcId="{371CC1AA-504E-C64E-BAF1-BF838230D7FB}" destId="{CB51D24D-7A82-FF41-B64E-106B2D7BB329}" srcOrd="0" destOrd="0" presId="urn:microsoft.com/office/officeart/2005/8/layout/hierarchy2"/>
    <dgm:cxn modelId="{600750EA-775D-4BC8-B8B4-79F852757F35}" type="presOf" srcId="{4C1DD2E0-FEF2-A849-B655-AD658BDA9CE8}" destId="{70A800DC-72BC-AA40-BDEB-5EF377BAE363}" srcOrd="0" destOrd="0" presId="urn:microsoft.com/office/officeart/2005/8/layout/hierarchy2"/>
    <dgm:cxn modelId="{B3F27DF1-7CB6-45BE-A033-B078A89DE500}" type="presOf" srcId="{6B33DDDE-CCD6-BD4B-AFEA-F71192AC914D}" destId="{F71DF7E7-8D91-8B44-A74C-92E995DD8351}" srcOrd="0" destOrd="0" presId="urn:microsoft.com/office/officeart/2005/8/layout/hierarchy2"/>
    <dgm:cxn modelId="{597188F4-3403-A84A-987F-B363BD59BD2B}" srcId="{6838E187-4B69-124C-AE33-51945204E05B}" destId="{8C39B675-8E40-444A-88F8-FBE77523B939}" srcOrd="0" destOrd="0" parTransId="{6B33DDDE-CCD6-BD4B-AFEA-F71192AC914D}" sibTransId="{FF707914-2B4A-D049-BB73-18E3E9191BB5}"/>
    <dgm:cxn modelId="{4A99F0F8-8EFA-473C-9804-02C923A04BE1}" type="presOf" srcId="{1C4BE5F7-C7BB-654B-AA5A-2DDD9F4EA2CE}" destId="{CFAD8DDD-488A-F743-A955-C7D21705AF2F}" srcOrd="1" destOrd="0" presId="urn:microsoft.com/office/officeart/2005/8/layout/hierarchy2"/>
    <dgm:cxn modelId="{D326733D-3B88-425C-8FDC-FC4662630CC8}" type="presParOf" srcId="{CB51D24D-7A82-FF41-B64E-106B2D7BB329}" destId="{B9609092-2B91-A14B-8164-DDE6310380AB}" srcOrd="0" destOrd="0" presId="urn:microsoft.com/office/officeart/2005/8/layout/hierarchy2"/>
    <dgm:cxn modelId="{63B86460-C117-49C9-9A1B-CB29F842EE0B}" type="presParOf" srcId="{B9609092-2B91-A14B-8164-DDE6310380AB}" destId="{A1317074-7E4E-1640-86BF-92D26868AEB3}" srcOrd="0" destOrd="0" presId="urn:microsoft.com/office/officeart/2005/8/layout/hierarchy2"/>
    <dgm:cxn modelId="{EA05A534-5FB8-42F2-AE74-5B96DC0B64AD}" type="presParOf" srcId="{B9609092-2B91-A14B-8164-DDE6310380AB}" destId="{8E77710E-A52C-AB4D-BFFA-B4B007D2A3B8}" srcOrd="1" destOrd="0" presId="urn:microsoft.com/office/officeart/2005/8/layout/hierarchy2"/>
    <dgm:cxn modelId="{D5766DB5-4DA4-4570-BBF9-38D53BFDD688}" type="presParOf" srcId="{8E77710E-A52C-AB4D-BFFA-B4B007D2A3B8}" destId="{F71DF7E7-8D91-8B44-A74C-92E995DD8351}" srcOrd="0" destOrd="0" presId="urn:microsoft.com/office/officeart/2005/8/layout/hierarchy2"/>
    <dgm:cxn modelId="{B798B09B-FC09-4A20-AFC7-3C121BC32C16}" type="presParOf" srcId="{F71DF7E7-8D91-8B44-A74C-92E995DD8351}" destId="{0CEAD131-D20D-C54D-8BB9-C79354993EF0}" srcOrd="0" destOrd="0" presId="urn:microsoft.com/office/officeart/2005/8/layout/hierarchy2"/>
    <dgm:cxn modelId="{97EC5C3A-23FB-40C2-BDA1-5956223B2FA1}" type="presParOf" srcId="{8E77710E-A52C-AB4D-BFFA-B4B007D2A3B8}" destId="{7E03E767-0C2E-8E4A-933D-F2B41D726917}" srcOrd="1" destOrd="0" presId="urn:microsoft.com/office/officeart/2005/8/layout/hierarchy2"/>
    <dgm:cxn modelId="{77EFB8A7-0504-41BE-96E6-8FC27D3AB447}" type="presParOf" srcId="{7E03E767-0C2E-8E4A-933D-F2B41D726917}" destId="{F3FD7585-FA72-FB45-8B09-748DC059D495}" srcOrd="0" destOrd="0" presId="urn:microsoft.com/office/officeart/2005/8/layout/hierarchy2"/>
    <dgm:cxn modelId="{28264547-3C08-492C-8E11-02528454E73D}" type="presParOf" srcId="{7E03E767-0C2E-8E4A-933D-F2B41D726917}" destId="{8304853B-3C72-5647-89E5-284E38234A78}" srcOrd="1" destOrd="0" presId="urn:microsoft.com/office/officeart/2005/8/layout/hierarchy2"/>
    <dgm:cxn modelId="{8BA94780-492B-467E-AF97-64387C811789}" type="presParOf" srcId="{8304853B-3C72-5647-89E5-284E38234A78}" destId="{F0E737A8-9061-0244-A444-584F576FE7C5}" srcOrd="0" destOrd="0" presId="urn:microsoft.com/office/officeart/2005/8/layout/hierarchy2"/>
    <dgm:cxn modelId="{76BFAEDB-6935-4FC0-99AA-5C566FAE11D3}" type="presParOf" srcId="{F0E737A8-9061-0244-A444-584F576FE7C5}" destId="{CFAD8DDD-488A-F743-A955-C7D21705AF2F}" srcOrd="0" destOrd="0" presId="urn:microsoft.com/office/officeart/2005/8/layout/hierarchy2"/>
    <dgm:cxn modelId="{8C5AF124-B320-4064-AC15-21E4BCBCEDD3}" type="presParOf" srcId="{8304853B-3C72-5647-89E5-284E38234A78}" destId="{2E6A7B54-EDFD-3649-8B37-5EFCFC478BD8}" srcOrd="1" destOrd="0" presId="urn:microsoft.com/office/officeart/2005/8/layout/hierarchy2"/>
    <dgm:cxn modelId="{49955130-F759-4AB1-BB4D-D9110AD315FB}" type="presParOf" srcId="{2E6A7B54-EDFD-3649-8B37-5EFCFC478BD8}" destId="{70A800DC-72BC-AA40-BDEB-5EF377BAE363}" srcOrd="0" destOrd="0" presId="urn:microsoft.com/office/officeart/2005/8/layout/hierarchy2"/>
    <dgm:cxn modelId="{2A4CFCA9-74B6-4B4F-ABCA-D5A179A9F868}" type="presParOf" srcId="{2E6A7B54-EDFD-3649-8B37-5EFCFC478BD8}" destId="{DD54FB27-3D90-484A-915C-069A7A2AAAD3}" srcOrd="1" destOrd="0" presId="urn:microsoft.com/office/officeart/2005/8/layout/hierarchy2"/>
    <dgm:cxn modelId="{261DEEB8-5345-4B29-A777-5836D94820FE}" type="presParOf" srcId="{8E77710E-A52C-AB4D-BFFA-B4B007D2A3B8}" destId="{2F83DCCC-BC0C-5F4C-9C53-0F23FE1B330C}" srcOrd="2" destOrd="0" presId="urn:microsoft.com/office/officeart/2005/8/layout/hierarchy2"/>
    <dgm:cxn modelId="{92BDEA1E-6AD4-4652-8871-ACD64114118B}" type="presParOf" srcId="{2F83DCCC-BC0C-5F4C-9C53-0F23FE1B330C}" destId="{C586BD24-34B5-3B4C-9894-DC1EB3A5627A}" srcOrd="0" destOrd="0" presId="urn:microsoft.com/office/officeart/2005/8/layout/hierarchy2"/>
    <dgm:cxn modelId="{01302E15-BA2E-4208-96F2-1A75E42139BA}" type="presParOf" srcId="{8E77710E-A52C-AB4D-BFFA-B4B007D2A3B8}" destId="{766B4232-FDF0-A246-95C3-027384ACCCED}" srcOrd="3" destOrd="0" presId="urn:microsoft.com/office/officeart/2005/8/layout/hierarchy2"/>
    <dgm:cxn modelId="{ABED5DCD-8A43-47D9-B2AA-B26F658DFA72}" type="presParOf" srcId="{766B4232-FDF0-A246-95C3-027384ACCCED}" destId="{E1332030-32E7-C444-B670-F2423325C78A}" srcOrd="0" destOrd="0" presId="urn:microsoft.com/office/officeart/2005/8/layout/hierarchy2"/>
    <dgm:cxn modelId="{77602E82-355B-4153-94E4-BD4FAE3AE05A}" type="presParOf" srcId="{766B4232-FDF0-A246-95C3-027384ACCCED}" destId="{272D0741-072E-6A45-A12D-A7CE318B1D61}" srcOrd="1" destOrd="0" presId="urn:microsoft.com/office/officeart/2005/8/layout/hierarchy2"/>
    <dgm:cxn modelId="{5BB59E3D-3C58-4A37-AA82-BF94ED2F295B}" type="presParOf" srcId="{272D0741-072E-6A45-A12D-A7CE318B1D61}" destId="{D85FA3C9-0AAC-F044-9799-2273BA0E0838}" srcOrd="0" destOrd="0" presId="urn:microsoft.com/office/officeart/2005/8/layout/hierarchy2"/>
    <dgm:cxn modelId="{B670F0C7-4DE1-4F5E-87CB-49100FE0F1A5}" type="presParOf" srcId="{D85FA3C9-0AAC-F044-9799-2273BA0E0838}" destId="{5CAB6F46-D262-A54B-929A-2B0B61C2F4AA}" srcOrd="0" destOrd="0" presId="urn:microsoft.com/office/officeart/2005/8/layout/hierarchy2"/>
    <dgm:cxn modelId="{23091F83-5C90-42B9-ACD1-0B345148AA03}" type="presParOf" srcId="{272D0741-072E-6A45-A12D-A7CE318B1D61}" destId="{AF0415BB-823A-BC4A-ACB0-96EE66E4AE0D}" srcOrd="1" destOrd="0" presId="urn:microsoft.com/office/officeart/2005/8/layout/hierarchy2"/>
    <dgm:cxn modelId="{FC334A3E-39E1-44B5-A44E-36385542A28B}" type="presParOf" srcId="{AF0415BB-823A-BC4A-ACB0-96EE66E4AE0D}" destId="{19BF3F60-223A-1344-ADE1-8BEFD6F334E4}" srcOrd="0" destOrd="0" presId="urn:microsoft.com/office/officeart/2005/8/layout/hierarchy2"/>
    <dgm:cxn modelId="{EDB832C8-D49E-4693-8A24-FE0C375B6578}" type="presParOf" srcId="{AF0415BB-823A-BC4A-ACB0-96EE66E4AE0D}" destId="{F45A42F7-6804-7F4D-BFEF-987828A95A2B}" srcOrd="1" destOrd="0" presId="urn:microsoft.com/office/officeart/2005/8/layout/hierarchy2"/>
    <dgm:cxn modelId="{5F9540BB-DB0B-459C-9213-C4CF31D64D04}" type="presParOf" srcId="{8E77710E-A52C-AB4D-BFFA-B4B007D2A3B8}" destId="{265FC26E-5D46-5548-A66A-8FE265B86E6A}" srcOrd="4" destOrd="0" presId="urn:microsoft.com/office/officeart/2005/8/layout/hierarchy2"/>
    <dgm:cxn modelId="{097C28DF-AF12-4CFD-AEC8-8644C79EBF5F}" type="presParOf" srcId="{265FC26E-5D46-5548-A66A-8FE265B86E6A}" destId="{FA975E78-984B-1647-8621-104E0F104422}" srcOrd="0" destOrd="0" presId="urn:microsoft.com/office/officeart/2005/8/layout/hierarchy2"/>
    <dgm:cxn modelId="{64CC412B-ED69-4AB9-A08F-21D4B07D3A4F}" type="presParOf" srcId="{8E77710E-A52C-AB4D-BFFA-B4B007D2A3B8}" destId="{2018088C-0974-2246-90B3-04643E3B993F}" srcOrd="5" destOrd="0" presId="urn:microsoft.com/office/officeart/2005/8/layout/hierarchy2"/>
    <dgm:cxn modelId="{B43E4116-767B-45C5-A9BA-B29C97838B94}" type="presParOf" srcId="{2018088C-0974-2246-90B3-04643E3B993F}" destId="{9C59387D-E86C-0A46-829D-CA2BC51C1C58}" srcOrd="0" destOrd="0" presId="urn:microsoft.com/office/officeart/2005/8/layout/hierarchy2"/>
    <dgm:cxn modelId="{7834BDC6-0F2B-4B9A-8FE0-8EE1B20E2592}" type="presParOf" srcId="{2018088C-0974-2246-90B3-04643E3B993F}" destId="{5534C5D9-013C-5D4B-8452-7AEC897E8D6B}" srcOrd="1" destOrd="0" presId="urn:microsoft.com/office/officeart/2005/8/layout/hierarchy2"/>
    <dgm:cxn modelId="{A771D930-C5E8-4942-B9D5-F767DDC9BBCC}" type="presParOf" srcId="{5534C5D9-013C-5D4B-8452-7AEC897E8D6B}" destId="{F81D28AA-68F5-6940-BCDC-574DEFE00089}" srcOrd="0" destOrd="0" presId="urn:microsoft.com/office/officeart/2005/8/layout/hierarchy2"/>
    <dgm:cxn modelId="{037048D3-A870-4411-8904-718C47544989}" type="presParOf" srcId="{F81D28AA-68F5-6940-BCDC-574DEFE00089}" destId="{BC33F666-A9F1-2A41-B2B9-063ECC0DF3E2}" srcOrd="0" destOrd="0" presId="urn:microsoft.com/office/officeart/2005/8/layout/hierarchy2"/>
    <dgm:cxn modelId="{2BF12782-EF8A-4B60-A593-B4A204A548A7}" type="presParOf" srcId="{5534C5D9-013C-5D4B-8452-7AEC897E8D6B}" destId="{52A2C549-5FB7-6842-9E9C-482D17CFB488}" srcOrd="1" destOrd="0" presId="urn:microsoft.com/office/officeart/2005/8/layout/hierarchy2"/>
    <dgm:cxn modelId="{801F5F28-1862-4A3E-830B-878A59278B5C}" type="presParOf" srcId="{52A2C549-5FB7-6842-9E9C-482D17CFB488}" destId="{F14AF6C4-852C-5A49-9F48-B47F405D651F}" srcOrd="0" destOrd="0" presId="urn:microsoft.com/office/officeart/2005/8/layout/hierarchy2"/>
    <dgm:cxn modelId="{ACB0AF7E-2638-4D8F-9147-F71EBC17754C}" type="presParOf" srcId="{52A2C549-5FB7-6842-9E9C-482D17CFB488}" destId="{7B5FF3E8-3410-B044-8078-0509AF79894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7EFA0-75D7-BE47-9738-A18CE986A1E5}">
      <dsp:nvSpPr>
        <dsp:cNvPr id="0" name=""/>
        <dsp:cNvSpPr/>
      </dsp:nvSpPr>
      <dsp:spPr>
        <a:xfrm>
          <a:off x="0" y="430700"/>
          <a:ext cx="7848600" cy="28350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99323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9" tIns="520700" rIns="609139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More secure from cryptanalysis than conventional encryption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General-purpose technique that has made conventional encryption obsolete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>
              <a:solidFill>
                <a:srgbClr val="E5E5D3">
                  <a:lumMod val="10000"/>
                </a:srgbClr>
              </a:solidFill>
              <a:latin typeface="Calisto MT"/>
              <a:ea typeface="+mn-ea"/>
              <a:cs typeface="+mn-cs"/>
            </a:rPr>
            <a:t>Key distribution is trivial when using public-key encryption </a:t>
          </a:r>
        </a:p>
      </dsp:txBody>
      <dsp:txXfrm>
        <a:off x="0" y="430700"/>
        <a:ext cx="7848600" cy="2835000"/>
      </dsp:txXfrm>
    </dsp:sp>
    <dsp:sp modelId="{2FF598B2-38A5-D546-B459-90779C80D4EA}">
      <dsp:nvSpPr>
        <dsp:cNvPr id="0" name=""/>
        <dsp:cNvSpPr/>
      </dsp:nvSpPr>
      <dsp:spPr>
        <a:xfrm>
          <a:off x="392430" y="61699"/>
          <a:ext cx="3208013" cy="73800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661" tIns="0" rIns="20766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Misconceptions:</a:t>
          </a:r>
        </a:p>
      </dsp:txBody>
      <dsp:txXfrm>
        <a:off x="428456" y="97725"/>
        <a:ext cx="3135961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17074-7E4E-1640-86BF-92D26868AEB3}">
      <dsp:nvSpPr>
        <dsp:cNvPr id="0" name=""/>
        <dsp:cNvSpPr/>
      </dsp:nvSpPr>
      <dsp:spPr>
        <a:xfrm>
          <a:off x="1048284" y="93785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use of public-key cryptosystems can be classified into three categories:</a:t>
          </a:r>
        </a:p>
      </dsp:txBody>
      <dsp:txXfrm>
        <a:off x="1072136" y="961705"/>
        <a:ext cx="1581061" cy="766678"/>
      </dsp:txXfrm>
    </dsp:sp>
    <dsp:sp modelId="{F71DF7E7-8D91-8B44-A74C-92E995DD8351}">
      <dsp:nvSpPr>
        <dsp:cNvPr id="0" name=""/>
        <dsp:cNvSpPr/>
      </dsp:nvSpPr>
      <dsp:spPr>
        <a:xfrm rot="18289469">
          <a:off x="2432371" y="849528"/>
          <a:ext cx="114086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60335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2963101" y="883900"/>
        <a:ext cx="0" cy="0"/>
      </dsp:txXfrm>
    </dsp:sp>
    <dsp:sp modelId="{F3FD7585-FA72-FB45-8B09-748DC059D495}">
      <dsp:nvSpPr>
        <dsp:cNvPr id="0" name=""/>
        <dsp:cNvSpPr/>
      </dsp:nvSpPr>
      <dsp:spPr>
        <a:xfrm>
          <a:off x="3328556" y="131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Encryption/decryption</a:t>
          </a:r>
        </a:p>
      </dsp:txBody>
      <dsp:txXfrm>
        <a:off x="3352408" y="25165"/>
        <a:ext cx="1581061" cy="766678"/>
      </dsp:txXfrm>
    </dsp:sp>
    <dsp:sp modelId="{F0E737A8-9061-0244-A444-584F576FE7C5}">
      <dsp:nvSpPr>
        <dsp:cNvPr id="0" name=""/>
        <dsp:cNvSpPr/>
      </dsp:nvSpPr>
      <dsp:spPr>
        <a:xfrm>
          <a:off x="4957321" y="381258"/>
          <a:ext cx="65150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5266787" y="392217"/>
        <a:ext cx="0" cy="0"/>
      </dsp:txXfrm>
    </dsp:sp>
    <dsp:sp modelId="{70A800DC-72BC-AA40-BDEB-5EF377BAE363}">
      <dsp:nvSpPr>
        <dsp:cNvPr id="0" name=""/>
        <dsp:cNvSpPr/>
      </dsp:nvSpPr>
      <dsp:spPr>
        <a:xfrm>
          <a:off x="5608827" y="131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sender encrypts a message with the recipient’s public key</a:t>
          </a:r>
        </a:p>
      </dsp:txBody>
      <dsp:txXfrm>
        <a:off x="5632679" y="25165"/>
        <a:ext cx="1581061" cy="766678"/>
      </dsp:txXfrm>
    </dsp:sp>
    <dsp:sp modelId="{2F83DCCC-BC0C-5F4C-9C53-0F23FE1B330C}">
      <dsp:nvSpPr>
        <dsp:cNvPr id="0" name=""/>
        <dsp:cNvSpPr/>
      </dsp:nvSpPr>
      <dsp:spPr>
        <a:xfrm>
          <a:off x="2677050" y="1317798"/>
          <a:ext cx="65150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2986515" y="1328757"/>
        <a:ext cx="0" cy="0"/>
      </dsp:txXfrm>
    </dsp:sp>
    <dsp:sp modelId="{E1332030-32E7-C444-B670-F2423325C78A}">
      <dsp:nvSpPr>
        <dsp:cNvPr id="0" name=""/>
        <dsp:cNvSpPr/>
      </dsp:nvSpPr>
      <dsp:spPr>
        <a:xfrm>
          <a:off x="3328556" y="93785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Digital signature</a:t>
          </a:r>
        </a:p>
      </dsp:txBody>
      <dsp:txXfrm>
        <a:off x="3352408" y="961705"/>
        <a:ext cx="1581061" cy="766678"/>
      </dsp:txXfrm>
    </dsp:sp>
    <dsp:sp modelId="{D85FA3C9-0AAC-F044-9799-2273BA0E0838}">
      <dsp:nvSpPr>
        <dsp:cNvPr id="0" name=""/>
        <dsp:cNvSpPr/>
      </dsp:nvSpPr>
      <dsp:spPr>
        <a:xfrm>
          <a:off x="4957321" y="1317798"/>
          <a:ext cx="65150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5266787" y="1328757"/>
        <a:ext cx="0" cy="0"/>
      </dsp:txXfrm>
    </dsp:sp>
    <dsp:sp modelId="{19BF3F60-223A-1344-ADE1-8BEFD6F334E4}">
      <dsp:nvSpPr>
        <dsp:cNvPr id="0" name=""/>
        <dsp:cNvSpPr/>
      </dsp:nvSpPr>
      <dsp:spPr>
        <a:xfrm>
          <a:off x="5608827" y="93785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The sender “signs” a message with its private key</a:t>
          </a:r>
        </a:p>
      </dsp:txBody>
      <dsp:txXfrm>
        <a:off x="5632679" y="961705"/>
        <a:ext cx="1581061" cy="766678"/>
      </dsp:txXfrm>
    </dsp:sp>
    <dsp:sp modelId="{265FC26E-5D46-5548-A66A-8FE265B86E6A}">
      <dsp:nvSpPr>
        <dsp:cNvPr id="0" name=""/>
        <dsp:cNvSpPr/>
      </dsp:nvSpPr>
      <dsp:spPr>
        <a:xfrm rot="3310531">
          <a:off x="2432371" y="1786068"/>
          <a:ext cx="114086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60335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3009928" y="1773613"/>
        <a:ext cx="0" cy="0"/>
      </dsp:txXfrm>
    </dsp:sp>
    <dsp:sp modelId="{9C59387D-E86C-0A46-829D-CA2BC51C1C58}">
      <dsp:nvSpPr>
        <dsp:cNvPr id="0" name=""/>
        <dsp:cNvSpPr/>
      </dsp:nvSpPr>
      <dsp:spPr>
        <a:xfrm>
          <a:off x="3328556" y="187439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Key exchange </a:t>
          </a:r>
        </a:p>
      </dsp:txBody>
      <dsp:txXfrm>
        <a:off x="3352408" y="1898245"/>
        <a:ext cx="1581061" cy="766678"/>
      </dsp:txXfrm>
    </dsp:sp>
    <dsp:sp modelId="{F81D28AA-68F5-6940-BCDC-574DEFE00089}">
      <dsp:nvSpPr>
        <dsp:cNvPr id="0" name=""/>
        <dsp:cNvSpPr/>
      </dsp:nvSpPr>
      <dsp:spPr>
        <a:xfrm>
          <a:off x="4957321" y="2254339"/>
          <a:ext cx="65150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719732" y="27246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Calisto MT"/>
            <a:ea typeface="+mn-ea"/>
            <a:cs typeface="+mn-cs"/>
          </a:endParaRPr>
        </a:p>
      </dsp:txBody>
      <dsp:txXfrm>
        <a:off x="5266787" y="2265297"/>
        <a:ext cx="0" cy="0"/>
      </dsp:txXfrm>
    </dsp:sp>
    <dsp:sp modelId="{F14AF6C4-852C-5A49-9F48-B47F405D651F}">
      <dsp:nvSpPr>
        <dsp:cNvPr id="0" name=""/>
        <dsp:cNvSpPr/>
      </dsp:nvSpPr>
      <dsp:spPr>
        <a:xfrm>
          <a:off x="5608827" y="1874393"/>
          <a:ext cx="1628765" cy="81438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rgbClr val="993232">
                <a:hueOff val="0"/>
                <a:satOff val="0"/>
                <a:lumOff val="0"/>
                <a:alphaOff val="0"/>
                <a:shade val="10000"/>
                <a:satMod val="135000"/>
              </a:srgbClr>
              <a:srgbClr val="993232">
                <a:hueOff val="0"/>
                <a:satOff val="0"/>
                <a:lumOff val="0"/>
                <a:alphaOff val="0"/>
                <a:satMod val="150000"/>
                <a:lumMod val="110000"/>
              </a:srgb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ysClr val="window" lastClr="FFFFFF"/>
              </a:solidFill>
              <a:latin typeface="Calisto MT"/>
              <a:ea typeface="+mn-ea"/>
              <a:cs typeface="+mn-cs"/>
            </a:rPr>
            <a:t>Two sides cooperate to exchange a session key</a:t>
          </a:r>
        </a:p>
      </dsp:txBody>
      <dsp:txXfrm>
        <a:off x="5632679" y="1898245"/>
        <a:ext cx="1581061" cy="766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210C8-6F78-4870-98DF-828CE4D3493E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177F4-AB68-4A47-A6DF-A9C898507F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37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0" y="6265333"/>
            <a:ext cx="9144000" cy="8467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16" y="6356351"/>
            <a:ext cx="967317" cy="365125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4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7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5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8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185" y="6346827"/>
            <a:ext cx="2108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77435" y="6356351"/>
            <a:ext cx="471593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5202" y="6356351"/>
            <a:ext cx="463547" cy="365125"/>
          </a:xfrm>
          <a:prstGeom prst="rect">
            <a:avLst/>
          </a:prstGeom>
        </p:spPr>
        <p:txBody>
          <a:bodyPr/>
          <a:lstStyle/>
          <a:p>
            <a:fld id="{374723C6-021C-8643-B89B-75D5ADB02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8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0" y="6265333"/>
            <a:ext cx="9144000" cy="8467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16" y="6356351"/>
            <a:ext cx="967317" cy="36512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1930399" y="6356351"/>
            <a:ext cx="480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5CM512</a:t>
            </a:r>
            <a:r>
              <a:rPr lang="en-GB" baseline="0" dirty="0"/>
              <a:t> Communication and Security Protocols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458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jpe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elfgrasp.com/marketing/what-is-a-focus-group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elfgrasp.com/marketing/what-is-a-focus-group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9144000" cy="62253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1355863"/>
            <a:ext cx="6687126" cy="292057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1" y="1602507"/>
            <a:ext cx="6834909" cy="3020292"/>
          </a:xfrm>
          <a:ln>
            <a:noFill/>
          </a:ln>
        </p:spPr>
        <p:txBody>
          <a:bodyPr>
            <a:normAutofit fontScale="90000"/>
          </a:bodyPr>
          <a:lstStyle/>
          <a:p>
            <a:pPr algn="l"/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  <a:t>5CC512</a:t>
            </a: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  <a:t>Communication and Security Protocols</a:t>
            </a: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  <a:cs typeface="Rockwell"/>
              </a:rPr>
              <a:t>Week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  <a:cs typeface="Rockwell"/>
              </a:rPr>
              <a:t>5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  <a:cs typeface="Rockwell"/>
              </a:rPr>
              <a:t>:</a:t>
            </a:r>
            <a:b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  <a:cs typeface="Rockwell"/>
              </a:rPr>
            </a:b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  <a:cs typeface="Rockwell"/>
              </a:rPr>
              <a:t>Public Key Cryptography</a:t>
            </a:r>
            <a:br>
              <a:rPr lang="en-US" sz="3200" dirty="0">
                <a:solidFill>
                  <a:schemeClr val="tx2"/>
                </a:solidFill>
                <a:latin typeface="Rockwell"/>
                <a:cs typeface="Rockwell"/>
              </a:rPr>
            </a:br>
            <a:endParaRPr lang="en-US" sz="3200" dirty="0">
              <a:solidFill>
                <a:schemeClr val="tx2"/>
              </a:solidFill>
              <a:latin typeface="Rockwell"/>
              <a:cs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41335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PUBLIC-KEY ENCRYPTION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</a:t>
            </a:fld>
            <a:endParaRPr lang="en-US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08397806-E251-4840-8669-9E8A508F5BB5}"/>
              </a:ext>
            </a:extLst>
          </p:cNvPr>
          <p:cNvSpPr txBox="1">
            <a:spLocks/>
          </p:cNvSpPr>
          <p:nvPr/>
        </p:nvSpPr>
        <p:spPr>
          <a:xfrm>
            <a:off x="129309" y="999836"/>
            <a:ext cx="80010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First publicly proposed by Diffie and Hellman in 1976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Based on mathematical functions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Asymmetric, involving the use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two separate keys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74C646BB-1BAA-4D8D-8235-B89879F29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212108"/>
              </p:ext>
            </p:extLst>
          </p:nvPr>
        </p:nvGraphicFramePr>
        <p:xfrm>
          <a:off x="967509" y="2676236"/>
          <a:ext cx="7848600" cy="332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89DEE35-D0CC-44FC-A0B8-339B1D40E0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27" b="89595" l="9966" r="92784">
                        <a14:foregroundMark x1="11684" y1="39884" x2="67698" y2="22543"/>
                        <a14:foregroundMark x1="67698" y1="22543" x2="92784" y2="37572"/>
                        <a14:foregroundMark x1="92784" y1="37572" x2="72509" y2="65318"/>
                        <a14:foregroundMark x1="72509" y1="65318" x2="18213" y2="73410"/>
                        <a14:foregroundMark x1="18213" y1="73410" x2="10653" y2="393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4863" y="5023874"/>
            <a:ext cx="1944686" cy="115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8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FF598B2-38A5-D546-B459-90779C80D4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>
                                            <p:graphicEl>
                                              <a:dgm id="{2FF598B2-38A5-D546-B459-90779C80D4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>
                                            <p:graphicEl>
                                              <a:dgm id="{2FF598B2-38A5-D546-B459-90779C80D4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>
                                            <p:graphicEl>
                                              <a:dgm id="{2FF598B2-38A5-D546-B459-90779C80D4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F07EFA0-75D7-BE47-9738-A18CE986A1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graphicEl>
                                              <a:dgm id="{FF07EFA0-75D7-BE47-9738-A18CE986A1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graphicEl>
                                              <a:dgm id="{FF07EFA0-75D7-BE47-9738-A18CE986A1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graphicEl>
                                              <a:dgm id="{FF07EFA0-75D7-BE47-9738-A18CE986A1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Graphic spid="2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PUBLIC KEY CRYPTOGRAPHY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6E872-753E-49C6-BF43-015797D1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206" y="1046482"/>
            <a:ext cx="4833712" cy="2382518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8DF45-6D3B-4C14-A301-C724E154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206" y="3583002"/>
            <a:ext cx="4833712" cy="2474085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65189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APPLICATIONS for PUBLIC-KEY CRYPTOSYSTEMS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6E682FE-8F17-4D99-85D3-6BAAC939EDA8}"/>
              </a:ext>
            </a:extLst>
          </p:cNvPr>
          <p:cNvSpPr txBox="1">
            <a:spLocks/>
          </p:cNvSpPr>
          <p:nvPr/>
        </p:nvSpPr>
        <p:spPr>
          <a:xfrm>
            <a:off x="0" y="1043709"/>
            <a:ext cx="9073008" cy="2121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Characterized by the use of a cryptographic type of algorithm with two keys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one held private and one available publicly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Sender uses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the sender’s private key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the receiver’s public key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both to perform some type of cryptographic function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D6D638E-BE97-4658-995F-B55FD3DE6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213269"/>
              </p:ext>
            </p:extLst>
          </p:nvPr>
        </p:nvGraphicFramePr>
        <p:xfrm>
          <a:off x="531097" y="3405909"/>
          <a:ext cx="8285878" cy="2690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28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1317074-7E4E-1640-86BF-92D26868AE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A1317074-7E4E-1640-86BF-92D26868AE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71DF7E7-8D91-8B44-A74C-92E995DD8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graphicEl>
                                              <a:dgm id="{F71DF7E7-8D91-8B44-A74C-92E995DD83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3FD7585-FA72-FB45-8B09-748DC059D4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dgm id="{F3FD7585-FA72-FB45-8B09-748DC059D4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E737A8-9061-0244-A444-584F576FE7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dgm id="{F0E737A8-9061-0244-A444-584F576FE7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0A800DC-72BC-AA40-BDEB-5EF377BAE3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graphicEl>
                                              <a:dgm id="{70A800DC-72BC-AA40-BDEB-5EF377BAE3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F83DCCC-BC0C-5F4C-9C53-0F23FE1B3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graphicEl>
                                              <a:dgm id="{2F83DCCC-BC0C-5F4C-9C53-0F23FE1B33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1332030-32E7-C444-B670-F2423325C7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graphicEl>
                                              <a:dgm id="{E1332030-32E7-C444-B670-F2423325C7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85FA3C9-0AAC-F044-9799-2273BA0E08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graphicEl>
                                              <a:dgm id="{D85FA3C9-0AAC-F044-9799-2273BA0E08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BF3F60-223A-1344-ADE1-8BEFD6F334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graphicEl>
                                              <a:dgm id="{19BF3F60-223A-1344-ADE1-8BEFD6F334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65FC26E-5D46-5548-A66A-8FE265B86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6">
                                            <p:graphicEl>
                                              <a:dgm id="{265FC26E-5D46-5548-A66A-8FE265B86E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C59387D-E86C-0A46-829D-CA2BC51C1C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graphicEl>
                                              <a:dgm id="{9C59387D-E86C-0A46-829D-CA2BC51C1C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1D28AA-68F5-6940-BCDC-574DEFE00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">
                                            <p:graphicEl>
                                              <a:dgm id="{F81D28AA-68F5-6940-BCDC-574DEFE00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14AF6C4-852C-5A49-9F48-B47F405D6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F14AF6C4-852C-5A49-9F48-B47F405D6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APPLICATIONS for PUBLIC-KEY CRYPTOSYSTEMS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C78DC-3241-4DD4-AD2E-970A865C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15" y="2289518"/>
            <a:ext cx="8640960" cy="19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5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2680545" cy="1182255"/>
          </a:xfrm>
        </p:spPr>
        <p:txBody>
          <a:bodyPr/>
          <a:lstStyle/>
          <a:p>
            <a:pPr algn="ctr"/>
            <a:r>
              <a:rPr lang="en-GB" b="1" dirty="0"/>
              <a:t>RSA Algorithm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149B7-61D1-408E-8F17-0F2EA80B9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44" y="27709"/>
            <a:ext cx="5904656" cy="6617156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EF088F4-B4A9-4D58-AA30-51BB18A0541A}"/>
              </a:ext>
            </a:extLst>
          </p:cNvPr>
          <p:cNvSpPr/>
          <p:nvPr/>
        </p:nvSpPr>
        <p:spPr>
          <a:xfrm>
            <a:off x="838755" y="1347527"/>
            <a:ext cx="1209963" cy="508000"/>
          </a:xfrm>
          <a:prstGeom prst="wedgeRoundRectCallout">
            <a:avLst>
              <a:gd name="adj1" fmla="val 170770"/>
              <a:gd name="adj2" fmla="val 2115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Everybody knows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C9A4E17-318E-41CE-8E6F-60E1B4EF001B}"/>
              </a:ext>
            </a:extLst>
          </p:cNvPr>
          <p:cNvSpPr/>
          <p:nvPr/>
        </p:nvSpPr>
        <p:spPr>
          <a:xfrm>
            <a:off x="838755" y="2155014"/>
            <a:ext cx="1209963" cy="508000"/>
          </a:xfrm>
          <a:prstGeom prst="wedgeRoundRectCallout">
            <a:avLst>
              <a:gd name="adj1" fmla="val 173060"/>
              <a:gd name="adj2" fmla="val 131591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Keep secret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FE5E4AD-811E-4CC8-940F-F63ED58AADAD}"/>
              </a:ext>
            </a:extLst>
          </p:cNvPr>
          <p:cNvSpPr txBox="1">
            <a:spLocks/>
          </p:cNvSpPr>
          <p:nvPr/>
        </p:nvSpPr>
        <p:spPr>
          <a:xfrm>
            <a:off x="-80263" y="3336287"/>
            <a:ext cx="2992582" cy="2121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Goal</a:t>
            </a:r>
          </a:p>
          <a:p>
            <a:pPr lvl="1" indent="-282575">
              <a:spcBef>
                <a:spcPts val="2000"/>
              </a:spcBef>
              <a:buClrTx/>
            </a:pPr>
            <a:r>
              <a:rPr lang="en-US" sz="20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Make guessing </a:t>
            </a:r>
            <a:r>
              <a:rPr lang="en-US" sz="20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from </a:t>
            </a:r>
            <a:r>
              <a:rPr lang="en-US" sz="20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and </a:t>
            </a:r>
            <a:r>
              <a:rPr lang="en-US" sz="20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impractical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1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961075E7-CAC0-420A-A4D8-1751ED04CAD5}"/>
              </a:ext>
            </a:extLst>
          </p:cNvPr>
          <p:cNvSpPr txBox="1">
            <a:spLocks/>
          </p:cNvSpPr>
          <p:nvPr/>
        </p:nvSpPr>
        <p:spPr>
          <a:xfrm>
            <a:off x="85990" y="825213"/>
            <a:ext cx="4486010" cy="516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How can we guess </a:t>
            </a:r>
            <a:r>
              <a:rPr lang="en-US" sz="22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</a:t>
            </a:r>
            <a:b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</a:br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using </a:t>
            </a:r>
            <a:r>
              <a:rPr lang="en-US" sz="22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and </a:t>
            </a:r>
            <a:r>
              <a:rPr lang="en-US" sz="2200" b="1" i="1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?</a:t>
            </a:r>
          </a:p>
          <a:p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0" indent="0">
              <a:buNone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How can we make it impractical?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93144-F0EB-4259-A023-8B32F6598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98" y="825212"/>
            <a:ext cx="4702902" cy="27215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DFDECDD-6204-44C2-9332-1D6AD7119242}"/>
                  </a:ext>
                </a:extLst>
              </p:cNvPr>
              <p:cNvSpPr/>
              <p:nvPr/>
            </p:nvSpPr>
            <p:spPr>
              <a:xfrm>
                <a:off x="492154" y="1838037"/>
                <a:ext cx="3565237" cy="1311564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800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 is calculated using </a:t>
                </a:r>
                <a:r>
                  <a:rPr lang="en-US" sz="1800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800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800" b="0" i="1" smtClean="0">
                        <a:solidFill>
                          <a:srgbClr val="FFFF00"/>
                        </a:solidFill>
                        <a:effectLst>
                          <a:outerShdw blurRad="63500" dir="2700000" algn="tl" rotWithShape="0">
                            <a:sysClr val="window" lastClr="FFFFFF">
                              <a:alpha val="40000"/>
                            </a:sys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is calculated using </a:t>
                </a:r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and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q.</a:t>
                </a:r>
              </a:p>
              <a:p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and</a:t>
                </a:r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 </a:t>
                </a:r>
                <a:r>
                  <a:rPr lang="en-US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Calisto MT"/>
                  </a:rPr>
                  <a:t>may be guessed using</a:t>
                </a:r>
                <a:r>
                  <a:rPr lang="en-US" i="1" dirty="0">
                    <a:solidFill>
                      <a:srgbClr val="FFFF00"/>
                    </a:solidFill>
                    <a:effectLst>
                      <a:outerShdw blurRad="63500" dir="2700000" algn="tl" rotWithShape="0">
                        <a:sysClr val="window" lastClr="FFFFFF">
                          <a:alpha val="40000"/>
                        </a:sys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n.</a:t>
                </a:r>
                <a:endParaRPr lang="en-GB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DFDECDD-6204-44C2-9332-1D6AD7119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54" y="1838037"/>
                <a:ext cx="3565237" cy="1311564"/>
              </a:xfrm>
              <a:prstGeom prst="roundRect">
                <a:avLst/>
              </a:prstGeom>
              <a:blipFill>
                <a:blip r:embed="rId3"/>
                <a:stretch>
                  <a:fillRect l="-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4EFD84-8DD0-4496-A5F3-0D0770B37287}"/>
              </a:ext>
            </a:extLst>
          </p:cNvPr>
          <p:cNvSpPr/>
          <p:nvPr/>
        </p:nvSpPr>
        <p:spPr>
          <a:xfrm>
            <a:off x="492154" y="4271819"/>
            <a:ext cx="3565237" cy="131156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Choose very large </a:t>
            </a:r>
            <a:r>
              <a:rPr lang="en-US" i="1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and</a:t>
            </a:r>
            <a:r>
              <a:rPr lang="en-US" i="1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.</a:t>
            </a:r>
          </a:p>
          <a:p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The adversary cannot </a:t>
            </a:r>
            <a:r>
              <a:rPr lang="en-US" dirty="0" err="1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factorise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</a:t>
            </a:r>
            <a:r>
              <a:rPr lang="en-US" i="1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into</a:t>
            </a:r>
            <a:r>
              <a:rPr lang="en-US" i="1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and</a:t>
            </a:r>
            <a:r>
              <a:rPr lang="en-US" i="1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dirty="0">
                <a:solidFill>
                  <a:srgbClr val="FFFF0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in a practical time period. </a:t>
            </a:r>
            <a:endParaRPr lang="en-GB" dirty="0">
              <a:solidFill>
                <a:srgbClr val="FFFF00"/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latin typeface="Calisto MT"/>
            </a:endParaRPr>
          </a:p>
        </p:txBody>
      </p:sp>
    </p:spTree>
    <p:extLst>
      <p:ext uri="{BB962C8B-B14F-4D97-AF65-F5344CB8AC3E}">
        <p14:creationId xmlns:p14="http://schemas.microsoft.com/office/powerpoint/2010/main" val="300447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F21EF-8FB7-49B1-AB3C-4D9C92C5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916832"/>
            <a:ext cx="8877186" cy="271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0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9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01B6B33-11A8-44A2-8285-B449C6D362C2}"/>
              </a:ext>
            </a:extLst>
          </p:cNvPr>
          <p:cNvSpPr txBox="1">
            <a:spLocks/>
          </p:cNvSpPr>
          <p:nvPr/>
        </p:nvSpPr>
        <p:spPr>
          <a:xfrm>
            <a:off x="85991" y="825213"/>
            <a:ext cx="8272918" cy="5270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Consider that the Receiver published the public key, </a:t>
            </a:r>
            <a:r>
              <a:rPr lang="en-US" sz="20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PU = { 3, 33 }.</a:t>
            </a:r>
          </a:p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Calculate the ciphertext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for 13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endParaRPr lang="en-US" sz="2200" dirty="0"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latin typeface="Calisto MT"/>
            </a:endParaRPr>
          </a:p>
          <a:p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The Receiver’s private key is PK = {7, 33}.</a:t>
            </a:r>
          </a:p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Calculate the plaintext if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the ciphertext is 19.</a:t>
            </a:r>
          </a:p>
          <a:p>
            <a:endParaRPr lang="en-US" sz="2200" baseline="0" dirty="0"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latin typeface="Calisto MT"/>
            </a:endParaRPr>
          </a:p>
          <a:p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The Adversary tries to break the ciphertext using a random private key, PK={ 5, 33 }</a:t>
            </a:r>
          </a:p>
          <a:p>
            <a:r>
              <a:rPr lang="en-US" sz="2200" baseline="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Calculate</a:t>
            </a:r>
            <a:r>
              <a:rPr lang="en-US" sz="22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 the plaintext if the ciphertext is 19.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0" indent="0">
              <a:buNone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B410FC-249D-4601-BEA6-C586D00D3C84}"/>
              </a:ext>
            </a:extLst>
          </p:cNvPr>
          <p:cNvGrpSpPr/>
          <p:nvPr/>
        </p:nvGrpSpPr>
        <p:grpSpPr>
          <a:xfrm>
            <a:off x="6239470" y="1272617"/>
            <a:ext cx="2651047" cy="1104183"/>
            <a:chOff x="6239470" y="1272617"/>
            <a:chExt cx="2651047" cy="1104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E8E8E12-990F-4B28-8F07-DDEF713EF6E2}"/>
                    </a:ext>
                  </a:extLst>
                </p:cNvPr>
                <p:cNvSpPr txBox="1"/>
                <p:nvPr/>
              </p:nvSpPr>
              <p:spPr>
                <a:xfrm>
                  <a:off x="6239470" y="1272617"/>
                  <a:ext cx="26510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2400" b="1" dirty="0">
                      <a:solidFill>
                        <a:srgbClr val="FF000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E8E8E12-990F-4B28-8F07-DDEF713EF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70" y="1272617"/>
                  <a:ext cx="2651047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691" b="-18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CF31DDD-9219-4592-8F86-57ED009FA9D2}"/>
                    </a:ext>
                  </a:extLst>
                </p:cNvPr>
                <p:cNvSpPr txBox="1"/>
                <p:nvPr/>
              </p:nvSpPr>
              <p:spPr>
                <a:xfrm>
                  <a:off x="6507325" y="1730469"/>
                  <a:ext cx="19496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33 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CF31DDD-9219-4592-8F86-57ED009FA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25" y="1730469"/>
                  <a:ext cx="19496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CE65F2F-DB93-4B66-9271-35EEF7559290}"/>
                    </a:ext>
                  </a:extLst>
                </p:cNvPr>
                <p:cNvSpPr txBox="1"/>
                <p:nvPr/>
              </p:nvSpPr>
              <p:spPr>
                <a:xfrm>
                  <a:off x="6518209" y="2007468"/>
                  <a:ext cx="7312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=19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CE65F2F-DB93-4B66-9271-35EEF7559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8209" y="2007468"/>
                  <a:ext cx="7312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4B51D5-9428-43A1-BA52-8E3D1DD1362E}"/>
              </a:ext>
            </a:extLst>
          </p:cNvPr>
          <p:cNvGrpSpPr/>
          <p:nvPr/>
        </p:nvGrpSpPr>
        <p:grpSpPr>
          <a:xfrm>
            <a:off x="6218632" y="2557653"/>
            <a:ext cx="2671885" cy="1104183"/>
            <a:chOff x="6218632" y="2557653"/>
            <a:chExt cx="2671885" cy="1104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BD8A01-3CDB-43D7-8F13-E4BAD9A7F44D}"/>
                    </a:ext>
                  </a:extLst>
                </p:cNvPr>
                <p:cNvSpPr txBox="1"/>
                <p:nvPr/>
              </p:nvSpPr>
              <p:spPr>
                <a:xfrm>
                  <a:off x="6218632" y="2557653"/>
                  <a:ext cx="2671885" cy="4755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2400" b="1" dirty="0">
                      <a:solidFill>
                        <a:srgbClr val="FF000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BD8A01-3CDB-43D7-8F13-E4BAD9A7F4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8632" y="2557653"/>
                  <a:ext cx="2671885" cy="475579"/>
                </a:xfrm>
                <a:prstGeom prst="rect">
                  <a:avLst/>
                </a:prstGeom>
                <a:blipFill>
                  <a:blip r:embed="rId5"/>
                  <a:stretch>
                    <a:fillRect l="-457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E92CF8-FFFE-4C2A-A78B-0C22B381CFE1}"/>
                    </a:ext>
                  </a:extLst>
                </p:cNvPr>
                <p:cNvSpPr txBox="1"/>
                <p:nvPr/>
              </p:nvSpPr>
              <p:spPr>
                <a:xfrm>
                  <a:off x="6486487" y="3015505"/>
                  <a:ext cx="19496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33 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E92CF8-FFFE-4C2A-A78B-0C22B381C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6487" y="3015505"/>
                  <a:ext cx="19496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648A5D-B5BC-4F89-BAEC-FA69B7C8C0DB}"/>
                    </a:ext>
                  </a:extLst>
                </p:cNvPr>
                <p:cNvSpPr txBox="1"/>
                <p:nvPr/>
              </p:nvSpPr>
              <p:spPr>
                <a:xfrm>
                  <a:off x="6497371" y="3292504"/>
                  <a:ext cx="7312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=13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648A5D-B5BC-4F89-BAEC-FA69B7C8C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371" y="3292504"/>
                  <a:ext cx="73128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2B8428-4372-4531-B721-62F429AFAE10}"/>
              </a:ext>
            </a:extLst>
          </p:cNvPr>
          <p:cNvGrpSpPr/>
          <p:nvPr/>
        </p:nvGrpSpPr>
        <p:grpSpPr>
          <a:xfrm>
            <a:off x="6239470" y="4846361"/>
            <a:ext cx="2671885" cy="1104183"/>
            <a:chOff x="6239470" y="4846361"/>
            <a:chExt cx="2671885" cy="1104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503F65E-679E-4CC3-BD73-4789B4069F92}"/>
                    </a:ext>
                  </a:extLst>
                </p:cNvPr>
                <p:cNvSpPr txBox="1"/>
                <p:nvPr/>
              </p:nvSpPr>
              <p:spPr>
                <a:xfrm>
                  <a:off x="6239470" y="4846361"/>
                  <a:ext cx="2671885" cy="4755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2400" b="1" dirty="0">
                      <a:solidFill>
                        <a:srgbClr val="FF000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503F65E-679E-4CC3-BD73-4789B4069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70" y="4846361"/>
                  <a:ext cx="2671885" cy="475579"/>
                </a:xfrm>
                <a:prstGeom prst="rect">
                  <a:avLst/>
                </a:prstGeom>
                <a:blipFill>
                  <a:blip r:embed="rId8"/>
                  <a:stretch>
                    <a:fillRect l="-685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3CC54A-B54B-45D9-8AB7-CC07035D93DB}"/>
                    </a:ext>
                  </a:extLst>
                </p:cNvPr>
                <p:cNvSpPr txBox="1"/>
                <p:nvPr/>
              </p:nvSpPr>
              <p:spPr>
                <a:xfrm>
                  <a:off x="6507325" y="5304213"/>
                  <a:ext cx="1949636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33 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3CC54A-B54B-45D9-8AB7-CC07035D9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25" y="5304213"/>
                  <a:ext cx="1949636" cy="3724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FDBB5CD-1E36-4CDE-A3BC-FABCBE6D08AC}"/>
                    </a:ext>
                  </a:extLst>
                </p:cNvPr>
                <p:cNvSpPr txBox="1"/>
                <p:nvPr/>
              </p:nvSpPr>
              <p:spPr>
                <a:xfrm>
                  <a:off x="6518209" y="5581212"/>
                  <a:ext cx="7312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FDBB5CD-1E36-4CDE-A3BC-FABCBE6D0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8209" y="5581212"/>
                  <a:ext cx="73128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6139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EFFICIENT CALCULATION of C = M</a:t>
            </a:r>
            <a:r>
              <a:rPr lang="en-GB" baseline="30000" dirty="0"/>
              <a:t>e</a:t>
            </a:r>
            <a:r>
              <a:rPr lang="en-GB" dirty="0"/>
              <a:t> (mod 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494B952-B9CC-4763-B6B3-10D39A79AC55}"/>
              </a:ext>
            </a:extLst>
          </p:cNvPr>
          <p:cNvSpPr txBox="1">
            <a:spLocks/>
          </p:cNvSpPr>
          <p:nvPr/>
        </p:nvSpPr>
        <p:spPr>
          <a:xfrm>
            <a:off x="70992" y="1772816"/>
            <a:ext cx="9073008" cy="3417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Use big prime numbers for security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Security depends on the complexity of finding greatest common divisor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Problem : How can a computer calculate plaintext to the power of a big prime number ?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5674</a:t>
            </a:r>
            <a:r>
              <a:rPr kumimoji="0" lang="en-US" sz="2200" b="0" i="0" u="none" strike="noStrike" kern="1200" cap="none" spc="0" normalizeH="0" baseline="3000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18899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mod 345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Use a property of modular arithmetic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</a:b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 mod n = ( a x b ) mod n</a:t>
            </a: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</a:b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 mod n = [ (a mod n) x (b mod n) ] mod n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0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EFFICIENT CALCULATION of C = M</a:t>
            </a:r>
            <a:r>
              <a:rPr lang="en-GB" baseline="30000" dirty="0"/>
              <a:t>e</a:t>
            </a:r>
            <a:r>
              <a:rPr lang="en-GB" dirty="0"/>
              <a:t> (mod 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96B49E27-EB00-4BE8-B963-043913AD4842}"/>
              </a:ext>
            </a:extLst>
          </p:cNvPr>
          <p:cNvSpPr txBox="1">
            <a:spLocks/>
          </p:cNvSpPr>
          <p:nvPr/>
        </p:nvSpPr>
        <p:spPr>
          <a:xfrm>
            <a:off x="35496" y="1340768"/>
            <a:ext cx="9073008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Iterative Calculation 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3000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(mod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67E51-C0E8-42AE-853B-5210C66F7EF8}"/>
              </a:ext>
            </a:extLst>
          </p:cNvPr>
          <p:cNvSpPr/>
          <p:nvPr/>
        </p:nvSpPr>
        <p:spPr>
          <a:xfrm>
            <a:off x="1583160" y="2132856"/>
            <a:ext cx="5904656" cy="34563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921F07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1 : Set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= 1 ,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e’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= 0</a:t>
            </a:r>
            <a:b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</a:b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2:  Increase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e’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by 1 	: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e’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=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e’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+ 1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3: Update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		: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=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M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x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(mod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n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4: if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e’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&lt;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then go to Step 2</a:t>
            </a:r>
            <a:b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</a:b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   else stop,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 contains the correct solution</a:t>
            </a:r>
          </a:p>
        </p:txBody>
      </p:sp>
    </p:spTree>
    <p:extLst>
      <p:ext uri="{BB962C8B-B14F-4D97-AF65-F5344CB8AC3E}">
        <p14:creationId xmlns:p14="http://schemas.microsoft.com/office/powerpoint/2010/main" val="120830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16261A4-137E-45F4-B6EF-85ACB1186190}"/>
              </a:ext>
            </a:extLst>
          </p:cNvPr>
          <p:cNvSpPr txBox="1">
            <a:spLocks/>
          </p:cNvSpPr>
          <p:nvPr/>
        </p:nvSpPr>
        <p:spPr>
          <a:xfrm>
            <a:off x="70992" y="871061"/>
            <a:ext cx="9073008" cy="1808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PU = {3,33} Plaintext = 13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3000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(mod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)</a:t>
            </a:r>
            <a:r>
              <a:rPr lang="en-US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→	M = 13, e =3, n =33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DB17D0-6A4C-4B88-A33C-84DFFF07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677" y="459519"/>
            <a:ext cx="3267323" cy="1892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EE2897-D6BA-4B19-9AB7-3C8BD526F0B2}"/>
              </a:ext>
            </a:extLst>
          </p:cNvPr>
          <p:cNvSpPr txBox="1"/>
          <p:nvPr/>
        </p:nvSpPr>
        <p:spPr>
          <a:xfrm>
            <a:off x="1756745" y="204133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	C		e’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D933E-3776-401F-822A-0A8A61FF77D5}"/>
              </a:ext>
            </a:extLst>
          </p:cNvPr>
          <p:cNvSpPr txBox="1"/>
          <p:nvPr/>
        </p:nvSpPr>
        <p:spPr>
          <a:xfrm>
            <a:off x="373996" y="2479878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Set to   	      1		0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EA0EC-6489-452E-B685-C3EEFB656159}"/>
              </a:ext>
            </a:extLst>
          </p:cNvPr>
          <p:cNvSpPr txBox="1"/>
          <p:nvPr/>
        </p:nvSpPr>
        <p:spPr>
          <a:xfrm>
            <a:off x="373996" y="2941543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e’=e’+1		 		1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2126E-FEF6-46A1-94E7-A9C9025643C0}"/>
              </a:ext>
            </a:extLst>
          </p:cNvPr>
          <p:cNvSpPr txBox="1"/>
          <p:nvPr/>
        </p:nvSpPr>
        <p:spPr>
          <a:xfrm>
            <a:off x="189270" y="3292186"/>
            <a:ext cx="27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Update C		13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E15DB-BDED-4460-960B-B236DD4AF9DE}"/>
              </a:ext>
            </a:extLst>
          </p:cNvPr>
          <p:cNvSpPr txBox="1"/>
          <p:nvPr/>
        </p:nvSpPr>
        <p:spPr>
          <a:xfrm>
            <a:off x="373996" y="3915434"/>
            <a:ext cx="3268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e’=e’+1		 		2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FEEEE-1C7D-45FB-9C54-6BCFE39B34BD}"/>
              </a:ext>
            </a:extLst>
          </p:cNvPr>
          <p:cNvSpPr txBox="1"/>
          <p:nvPr/>
        </p:nvSpPr>
        <p:spPr>
          <a:xfrm>
            <a:off x="189270" y="4270402"/>
            <a:ext cx="27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Update C		4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D0BCC-926D-415A-8875-47F06FA81904}"/>
              </a:ext>
            </a:extLst>
          </p:cNvPr>
          <p:cNvSpPr txBox="1"/>
          <p:nvPr/>
        </p:nvSpPr>
        <p:spPr>
          <a:xfrm>
            <a:off x="373996" y="4825246"/>
            <a:ext cx="3268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e’=e’+1		 		3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4C5B8-7D41-429C-B08F-2240BCAC2C59}"/>
              </a:ext>
            </a:extLst>
          </p:cNvPr>
          <p:cNvSpPr txBox="1"/>
          <p:nvPr/>
        </p:nvSpPr>
        <p:spPr>
          <a:xfrm>
            <a:off x="189270" y="5180214"/>
            <a:ext cx="27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Update C		19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632D2-8341-45A1-8FD7-20CB41F3CFE2}"/>
              </a:ext>
            </a:extLst>
          </p:cNvPr>
          <p:cNvSpPr txBox="1"/>
          <p:nvPr/>
        </p:nvSpPr>
        <p:spPr>
          <a:xfrm>
            <a:off x="373997" y="5690532"/>
            <a:ext cx="3268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latin typeface="Calisto MT"/>
              </a:rPr>
              <a:t>e’=e’+1		 		4	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7A7F72F-7E63-48F4-B31D-E6C614F8A2D9}"/>
              </a:ext>
            </a:extLst>
          </p:cNvPr>
          <p:cNvSpPr/>
          <p:nvPr/>
        </p:nvSpPr>
        <p:spPr>
          <a:xfrm>
            <a:off x="3642840" y="5800902"/>
            <a:ext cx="772142" cy="2409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Graphic 19" descr="No sign with solid fill">
            <a:extLst>
              <a:ext uri="{FF2B5EF4-FFF2-40B4-BE49-F238E27FC236}">
                <a16:creationId xmlns:a16="http://schemas.microsoft.com/office/drawing/2014/main" id="{8564CDBA-CADF-460A-8D84-74D414976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420" y="5694997"/>
            <a:ext cx="457200" cy="4572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4AFCB0-4717-4117-8579-9B219796F05B}"/>
              </a:ext>
            </a:extLst>
          </p:cNvPr>
          <p:cNvCxnSpPr>
            <a:stCxn id="12" idx="3"/>
          </p:cNvCxnSpPr>
          <p:nvPr/>
        </p:nvCxnSpPr>
        <p:spPr>
          <a:xfrm flipV="1">
            <a:off x="2954769" y="3523018"/>
            <a:ext cx="16527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CF8366-48C2-47F4-9E72-D1BDEDA28B71}"/>
                  </a:ext>
                </a:extLst>
              </p:cNvPr>
              <p:cNvSpPr txBox="1"/>
              <p:nvPr/>
            </p:nvSpPr>
            <p:spPr>
              <a:xfrm>
                <a:off x="4607496" y="3384518"/>
                <a:ext cx="43897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 × 1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CF8366-48C2-47F4-9E72-D1BDEDA28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96" y="3384518"/>
                <a:ext cx="4389791" cy="276999"/>
              </a:xfrm>
              <a:prstGeom prst="rect">
                <a:avLst/>
              </a:prstGeom>
              <a:blipFill>
                <a:blip r:embed="rId5"/>
                <a:stretch>
                  <a:fillRect l="-833" r="-833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270D69-C12C-4415-B904-6235DD5158FD}"/>
              </a:ext>
            </a:extLst>
          </p:cNvPr>
          <p:cNvCxnSpPr/>
          <p:nvPr/>
        </p:nvCxnSpPr>
        <p:spPr>
          <a:xfrm flipV="1">
            <a:off x="2897001" y="4515599"/>
            <a:ext cx="16527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2B6DAC-8FB3-4960-B775-6F4FC3580ADF}"/>
                  </a:ext>
                </a:extLst>
              </p:cNvPr>
              <p:cNvSpPr txBox="1"/>
              <p:nvPr/>
            </p:nvSpPr>
            <p:spPr>
              <a:xfrm>
                <a:off x="4588485" y="4377099"/>
                <a:ext cx="45180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 × 13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=169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2B6DAC-8FB3-4960-B775-6F4FC3580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485" y="4377099"/>
                <a:ext cx="4518032" cy="276999"/>
              </a:xfrm>
              <a:prstGeom prst="rect">
                <a:avLst/>
              </a:prstGeom>
              <a:blipFill>
                <a:blip r:embed="rId6"/>
                <a:stretch>
                  <a:fillRect l="-810" r="-675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FD975D-D827-46D5-B20A-C6EFE96810E4}"/>
              </a:ext>
            </a:extLst>
          </p:cNvPr>
          <p:cNvCxnSpPr/>
          <p:nvPr/>
        </p:nvCxnSpPr>
        <p:spPr>
          <a:xfrm flipV="1">
            <a:off x="2897001" y="5425948"/>
            <a:ext cx="16527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8D65C7-1CBA-464F-98B7-EE91AC3C8BE7}"/>
                  </a:ext>
                </a:extLst>
              </p:cNvPr>
              <p:cNvSpPr txBox="1"/>
              <p:nvPr/>
            </p:nvSpPr>
            <p:spPr>
              <a:xfrm>
                <a:off x="4500420" y="5287448"/>
                <a:ext cx="4466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 ×4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=52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33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8D65C7-1CBA-464F-98B7-EE91AC3C8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420" y="5287448"/>
                <a:ext cx="4466736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DFBC9F37-A8A2-4AA1-A791-FF763531657D}"/>
              </a:ext>
            </a:extLst>
          </p:cNvPr>
          <p:cNvSpPr/>
          <p:nvPr/>
        </p:nvSpPr>
        <p:spPr>
          <a:xfrm>
            <a:off x="2153033" y="5157744"/>
            <a:ext cx="539754" cy="4616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1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23" grpId="0"/>
      <p:bldP spid="25" grpId="0"/>
      <p:bldP spid="27" grpId="0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13</a:t>
            </a:fld>
            <a:endParaRPr lang="en-US"/>
          </a:p>
        </p:txBody>
      </p:sp>
      <p:sp>
        <p:nvSpPr>
          <p:cNvPr id="5" name="Bent Arrow 14">
            <a:extLst>
              <a:ext uri="{FF2B5EF4-FFF2-40B4-BE49-F238E27FC236}">
                <a16:creationId xmlns:a16="http://schemas.microsoft.com/office/drawing/2014/main" id="{77B1FC9B-DC0D-4CF6-A2C4-7381585C982B}"/>
              </a:ext>
            </a:extLst>
          </p:cNvPr>
          <p:cNvSpPr/>
          <p:nvPr/>
        </p:nvSpPr>
        <p:spPr>
          <a:xfrm flipV="1">
            <a:off x="827584" y="2755728"/>
            <a:ext cx="6336704" cy="409235"/>
          </a:xfrm>
          <a:prstGeom prst="bentArrow">
            <a:avLst/>
          </a:prstGeom>
          <a:solidFill>
            <a:srgbClr val="00B0F0">
              <a:alpha val="22000"/>
            </a:srgbClr>
          </a:solidFill>
          <a:ln w="12700" cap="flat" cmpd="sng" algn="ctr">
            <a:solidFill>
              <a:srgbClr val="0070C0"/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9CB1B0-441A-460D-8EC2-8DFA1508ACF6}"/>
              </a:ext>
            </a:extLst>
          </p:cNvPr>
          <p:cNvSpPr txBox="1">
            <a:spLocks/>
          </p:cNvSpPr>
          <p:nvPr/>
        </p:nvSpPr>
        <p:spPr>
          <a:xfrm>
            <a:off x="251520" y="986130"/>
            <a:ext cx="8280920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Can you compare symmetric and asymmetric encryption?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45FC7-F50C-491A-81FD-CDB49B4E5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841491"/>
            <a:ext cx="592599" cy="792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AB7FEE-5564-408F-BC0B-4EA8E23B1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458" y="1757394"/>
            <a:ext cx="773078" cy="792088"/>
          </a:xfrm>
          <a:prstGeom prst="rect">
            <a:avLst/>
          </a:prstGeom>
        </p:spPr>
      </p:pic>
      <p:pic>
        <p:nvPicPr>
          <p:cNvPr id="9" name="Picture 8" descr="PV characterization - SENSORICA">
            <a:extLst>
              <a:ext uri="{FF2B5EF4-FFF2-40B4-BE49-F238E27FC236}">
                <a16:creationId xmlns:a16="http://schemas.microsoft.com/office/drawing/2014/main" id="{FC3467B2-2A41-4274-885E-4147EB20A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9" y="2850214"/>
            <a:ext cx="520859" cy="520859"/>
          </a:xfrm>
          <a:prstGeom prst="rect">
            <a:avLst/>
          </a:prstGeom>
        </p:spPr>
      </p:pic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1191B570-81D4-4220-9966-D29D8FFE81F3}"/>
              </a:ext>
            </a:extLst>
          </p:cNvPr>
          <p:cNvSpPr/>
          <p:nvPr/>
        </p:nvSpPr>
        <p:spPr>
          <a:xfrm>
            <a:off x="1403648" y="2805366"/>
            <a:ext cx="1152128" cy="578777"/>
          </a:xfrm>
          <a:prstGeom prst="roundRect">
            <a:avLst/>
          </a:prstGeom>
          <a:blipFill rotWithShape="1">
            <a:blip r:embed="rId5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AES</a:t>
            </a:r>
          </a:p>
        </p:txBody>
      </p:sp>
      <p:pic>
        <p:nvPicPr>
          <p:cNvPr id="11" name="Picture 10" descr="File:Application-pgp-encrypted.svg - Wikimedia Commons">
            <a:extLst>
              <a:ext uri="{FF2B5EF4-FFF2-40B4-BE49-F238E27FC236}">
                <a16:creationId xmlns:a16="http://schemas.microsoft.com/office/drawing/2014/main" id="{69ECBE40-FD1F-483E-9F3B-A2FD278FC6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136" y="2855745"/>
            <a:ext cx="454083" cy="454083"/>
          </a:xfrm>
          <a:prstGeom prst="rect">
            <a:avLst/>
          </a:prstGeom>
        </p:spPr>
      </p:pic>
      <p:pic>
        <p:nvPicPr>
          <p:cNvPr id="12" name="Picture 11" descr="File:Application-pgp-encrypted.svg - Wikimedia Commons">
            <a:extLst>
              <a:ext uri="{FF2B5EF4-FFF2-40B4-BE49-F238E27FC236}">
                <a16:creationId xmlns:a16="http://schemas.microsoft.com/office/drawing/2014/main" id="{F165F2DE-5759-4531-8B50-B5A18FAA8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637" y="2805366"/>
            <a:ext cx="454083" cy="454083"/>
          </a:xfrm>
          <a:prstGeom prst="rect">
            <a:avLst/>
          </a:prstGeom>
        </p:spPr>
      </p:pic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453D7871-6101-4688-9152-1D8F6402B5FA}"/>
              </a:ext>
            </a:extLst>
          </p:cNvPr>
          <p:cNvSpPr/>
          <p:nvPr/>
        </p:nvSpPr>
        <p:spPr>
          <a:xfrm>
            <a:off x="5702080" y="2786000"/>
            <a:ext cx="1152128" cy="578777"/>
          </a:xfrm>
          <a:prstGeom prst="roundRect">
            <a:avLst/>
          </a:prstGeom>
          <a:blipFill rotWithShape="1">
            <a:blip r:embed="rId5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AES</a:t>
            </a:r>
          </a:p>
        </p:txBody>
      </p:sp>
      <p:pic>
        <p:nvPicPr>
          <p:cNvPr id="14" name="Picture 13" descr="PV characterization - SENSORICA">
            <a:extLst>
              <a:ext uri="{FF2B5EF4-FFF2-40B4-BE49-F238E27FC236}">
                <a16:creationId xmlns:a16="http://schemas.microsoft.com/office/drawing/2014/main" id="{1DD26F04-455E-411B-A5C8-ED5B353AC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568" y="2805366"/>
            <a:ext cx="520859" cy="520859"/>
          </a:xfrm>
          <a:prstGeom prst="rect">
            <a:avLst/>
          </a:prstGeom>
        </p:spPr>
      </p:pic>
      <p:pic>
        <p:nvPicPr>
          <p:cNvPr id="15" name="Picture 14" descr="La Palabra de Fe: La Llave Que Abre Las Puertas Del Cielo">
            <a:extLst>
              <a:ext uri="{FF2B5EF4-FFF2-40B4-BE49-F238E27FC236}">
                <a16:creationId xmlns:a16="http://schemas.microsoft.com/office/drawing/2014/main" id="{4931742F-61F8-461B-A817-77B5B0AF2A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551" y="2681083"/>
            <a:ext cx="413671" cy="413671"/>
          </a:xfrm>
          <a:prstGeom prst="rect">
            <a:avLst/>
          </a:prstGeom>
        </p:spPr>
      </p:pic>
      <p:pic>
        <p:nvPicPr>
          <p:cNvPr id="16" name="Picture 15" descr="La Palabra de Fe: La Llave Que Abre Las Puertas Del Cielo">
            <a:extLst>
              <a:ext uri="{FF2B5EF4-FFF2-40B4-BE49-F238E27FC236}">
                <a16:creationId xmlns:a16="http://schemas.microsoft.com/office/drawing/2014/main" id="{DAEFDB57-ED6D-4C4F-9F3B-52F6F20EA5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634" y="2681083"/>
            <a:ext cx="413671" cy="413671"/>
          </a:xfrm>
          <a:prstGeom prst="rect">
            <a:avLst/>
          </a:prstGeom>
        </p:spPr>
      </p:pic>
      <p:sp>
        <p:nvSpPr>
          <p:cNvPr id="17" name="Bent Arrow 19">
            <a:extLst>
              <a:ext uri="{FF2B5EF4-FFF2-40B4-BE49-F238E27FC236}">
                <a16:creationId xmlns:a16="http://schemas.microsoft.com/office/drawing/2014/main" id="{CD51CAC9-A98B-42F2-BCF3-69F7EAB4CAC3}"/>
              </a:ext>
            </a:extLst>
          </p:cNvPr>
          <p:cNvSpPr/>
          <p:nvPr/>
        </p:nvSpPr>
        <p:spPr>
          <a:xfrm flipV="1">
            <a:off x="861099" y="5032396"/>
            <a:ext cx="6336704" cy="409235"/>
          </a:xfrm>
          <a:prstGeom prst="bentArrow">
            <a:avLst/>
          </a:prstGeom>
          <a:solidFill>
            <a:srgbClr val="00B0F0">
              <a:alpha val="22000"/>
            </a:srgbClr>
          </a:solidFill>
          <a:ln w="12700" cap="flat" cmpd="sng" algn="ctr">
            <a:solidFill>
              <a:srgbClr val="0070C0"/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6E1902-E8B4-4128-9C5A-796220F28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5" y="4118159"/>
            <a:ext cx="592599" cy="7920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7A1C56-3CE0-4DBF-831D-EE29BC89B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973" y="4034062"/>
            <a:ext cx="773078" cy="792088"/>
          </a:xfrm>
          <a:prstGeom prst="rect">
            <a:avLst/>
          </a:prstGeom>
        </p:spPr>
      </p:pic>
      <p:pic>
        <p:nvPicPr>
          <p:cNvPr id="20" name="Picture 19" descr="PV characterization - SENSORICA">
            <a:extLst>
              <a:ext uri="{FF2B5EF4-FFF2-40B4-BE49-F238E27FC236}">
                <a16:creationId xmlns:a16="http://schemas.microsoft.com/office/drawing/2014/main" id="{81698210-758B-4E23-8807-92F68DDBC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44" y="5126882"/>
            <a:ext cx="520859" cy="520859"/>
          </a:xfrm>
          <a:prstGeom prst="rect">
            <a:avLst/>
          </a:prstGeom>
        </p:spPr>
      </p:pic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328D7B06-C586-4906-94D4-F5A5432E9A4D}"/>
              </a:ext>
            </a:extLst>
          </p:cNvPr>
          <p:cNvSpPr/>
          <p:nvPr/>
        </p:nvSpPr>
        <p:spPr>
          <a:xfrm>
            <a:off x="1437163" y="5082034"/>
            <a:ext cx="1152128" cy="578777"/>
          </a:xfrm>
          <a:prstGeom prst="roundRect">
            <a:avLst/>
          </a:prstGeom>
          <a:blipFill rotWithShape="1">
            <a:blip r:embed="rId5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RSA</a:t>
            </a:r>
          </a:p>
        </p:txBody>
      </p:sp>
      <p:pic>
        <p:nvPicPr>
          <p:cNvPr id="22" name="Picture 21" descr="File:Application-pgp-encrypted.svg - Wikimedia Commons">
            <a:extLst>
              <a:ext uri="{FF2B5EF4-FFF2-40B4-BE49-F238E27FC236}">
                <a16:creationId xmlns:a16="http://schemas.microsoft.com/office/drawing/2014/main" id="{E320B80A-726D-4D0A-983F-EA8E01DFF8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651" y="5132413"/>
            <a:ext cx="454083" cy="454083"/>
          </a:xfrm>
          <a:prstGeom prst="rect">
            <a:avLst/>
          </a:prstGeom>
        </p:spPr>
      </p:pic>
      <p:pic>
        <p:nvPicPr>
          <p:cNvPr id="23" name="Picture 22" descr="File:Application-pgp-encrypted.svg - Wikimedia Commons">
            <a:extLst>
              <a:ext uri="{FF2B5EF4-FFF2-40B4-BE49-F238E27FC236}">
                <a16:creationId xmlns:a16="http://schemas.microsoft.com/office/drawing/2014/main" id="{3955D308-C419-4A4C-BA17-F2B8F37644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152" y="5082034"/>
            <a:ext cx="454083" cy="454083"/>
          </a:xfrm>
          <a:prstGeom prst="rect">
            <a:avLst/>
          </a:prstGeom>
        </p:spPr>
      </p:pic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98755C43-B734-4F03-AA54-54E941B2E101}"/>
              </a:ext>
            </a:extLst>
          </p:cNvPr>
          <p:cNvSpPr/>
          <p:nvPr/>
        </p:nvSpPr>
        <p:spPr>
          <a:xfrm>
            <a:off x="5735595" y="5062668"/>
            <a:ext cx="1152128" cy="578777"/>
          </a:xfrm>
          <a:prstGeom prst="roundRect">
            <a:avLst/>
          </a:prstGeom>
          <a:blipFill rotWithShape="1">
            <a:blip r:embed="rId5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RSA</a:t>
            </a:r>
          </a:p>
        </p:txBody>
      </p:sp>
      <p:pic>
        <p:nvPicPr>
          <p:cNvPr id="25" name="Picture 24" descr="PV characterization - SENSORICA">
            <a:extLst>
              <a:ext uri="{FF2B5EF4-FFF2-40B4-BE49-F238E27FC236}">
                <a16:creationId xmlns:a16="http://schemas.microsoft.com/office/drawing/2014/main" id="{4A13D090-94B1-452A-B670-5A4D1AF5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083" y="5082034"/>
            <a:ext cx="520859" cy="520859"/>
          </a:xfrm>
          <a:prstGeom prst="rect">
            <a:avLst/>
          </a:prstGeom>
        </p:spPr>
      </p:pic>
      <p:pic>
        <p:nvPicPr>
          <p:cNvPr id="26" name="Picture 25" descr="La Palabra de Fe: La Llave Que Abre Las Puertas Del Cielo">
            <a:extLst>
              <a:ext uri="{FF2B5EF4-FFF2-40B4-BE49-F238E27FC236}">
                <a16:creationId xmlns:a16="http://schemas.microsoft.com/office/drawing/2014/main" id="{A7361144-1BFD-496E-9025-48A6E39F8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066" y="4957751"/>
            <a:ext cx="413671" cy="413671"/>
          </a:xfrm>
          <a:prstGeom prst="rect">
            <a:avLst/>
          </a:prstGeom>
        </p:spPr>
      </p:pic>
      <p:pic>
        <p:nvPicPr>
          <p:cNvPr id="27" name="Picture 26" descr="File:Octicons-key.svg - Wikimedia Commons">
            <a:extLst>
              <a:ext uri="{FF2B5EF4-FFF2-40B4-BE49-F238E27FC236}">
                <a16:creationId xmlns:a16="http://schemas.microsoft.com/office/drawing/2014/main" id="{8AA38388-7957-461E-9168-35064755EF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7713">
            <a:off x="5717117" y="4918976"/>
            <a:ext cx="328514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1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38BD1-4D5F-4940-A8A4-E016030AA6EE}"/>
              </a:ext>
            </a:extLst>
          </p:cNvPr>
          <p:cNvSpPr txBox="1"/>
          <p:nvPr/>
        </p:nvSpPr>
        <p:spPr>
          <a:xfrm>
            <a:off x="1488045" y="10215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solidFill>
                  <a:srgbClr val="333333"/>
                </a:solidFill>
                <a:latin typeface="Arial" pitchFamily="-84" charset="0"/>
              </a:rPr>
              <a:t>Symmetric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957F6-D631-4D17-BED3-CDF9F56B6F9E}"/>
              </a:ext>
            </a:extLst>
          </p:cNvPr>
          <p:cNvSpPr txBox="1"/>
          <p:nvPr/>
        </p:nvSpPr>
        <p:spPr>
          <a:xfrm>
            <a:off x="5796136" y="1001591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solidFill>
                  <a:srgbClr val="333333"/>
                </a:solidFill>
                <a:latin typeface="Arial" pitchFamily="-84" charset="0"/>
              </a:rPr>
              <a:t>Asymmetric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25F708-17BE-45E9-99FF-9B1046EFF427}"/>
              </a:ext>
            </a:extLst>
          </p:cNvPr>
          <p:cNvSpPr/>
          <p:nvPr/>
        </p:nvSpPr>
        <p:spPr>
          <a:xfrm>
            <a:off x="539551" y="1525598"/>
            <a:ext cx="3261465" cy="1120606"/>
          </a:xfrm>
          <a:prstGeom prst="roundRect">
            <a:avLst/>
          </a:prstGeom>
          <a:blipFill rotWithShape="1">
            <a:blip r:embed="rId2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Same Key is used in the sender and receiver sides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28756D-82F7-49CE-8677-FF8C2BD692B6}"/>
              </a:ext>
            </a:extLst>
          </p:cNvPr>
          <p:cNvSpPr/>
          <p:nvPr/>
        </p:nvSpPr>
        <p:spPr>
          <a:xfrm>
            <a:off x="4572000" y="1494076"/>
            <a:ext cx="3953812" cy="1152128"/>
          </a:xfrm>
          <a:prstGeom prst="roundRect">
            <a:avLst/>
          </a:prstGeom>
          <a:solidFill>
            <a:srgbClr val="002060"/>
          </a:solid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One key is used in the sender ; different key is used in the receiver.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They are mathematically related.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1FDFE88-783D-48B7-9074-354E5C746420}"/>
              </a:ext>
            </a:extLst>
          </p:cNvPr>
          <p:cNvSpPr/>
          <p:nvPr/>
        </p:nvSpPr>
        <p:spPr>
          <a:xfrm>
            <a:off x="539551" y="2888598"/>
            <a:ext cx="3261464" cy="504056"/>
          </a:xfrm>
          <a:prstGeom prst="roundRect">
            <a:avLst/>
          </a:prstGeom>
          <a:blipFill rotWithShape="1">
            <a:blip r:embed="rId2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Sharing the key is a problem.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8D24A1-8A6B-4E45-8C98-21F8368E9019}"/>
              </a:ext>
            </a:extLst>
          </p:cNvPr>
          <p:cNvSpPr/>
          <p:nvPr/>
        </p:nvSpPr>
        <p:spPr>
          <a:xfrm>
            <a:off x="560326" y="3747542"/>
            <a:ext cx="3219915" cy="504056"/>
          </a:xfrm>
          <a:prstGeom prst="roundRect">
            <a:avLst/>
          </a:prstGeom>
          <a:blipFill rotWithShape="1">
            <a:blip r:embed="rId2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The key must be kept secret.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A71B8D-F03A-44EE-9584-8AACC568289B}"/>
              </a:ext>
            </a:extLst>
          </p:cNvPr>
          <p:cNvSpPr/>
          <p:nvPr/>
        </p:nvSpPr>
        <p:spPr>
          <a:xfrm>
            <a:off x="4572000" y="2851637"/>
            <a:ext cx="3953812" cy="541017"/>
          </a:xfrm>
          <a:prstGeom prst="roundRect">
            <a:avLst/>
          </a:prstGeom>
          <a:solidFill>
            <a:srgbClr val="002060"/>
          </a:solid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No need to share a key.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2020C2-066B-433A-86D6-C4915449A2B8}"/>
              </a:ext>
            </a:extLst>
          </p:cNvPr>
          <p:cNvSpPr/>
          <p:nvPr/>
        </p:nvSpPr>
        <p:spPr>
          <a:xfrm>
            <a:off x="4572000" y="3710581"/>
            <a:ext cx="3953812" cy="541017"/>
          </a:xfrm>
          <a:prstGeom prst="roundRect">
            <a:avLst/>
          </a:prstGeom>
          <a:solidFill>
            <a:srgbClr val="002060"/>
          </a:solid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Private key should be secret. But public key is disseminated freely.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3C8D9CA-B18F-4985-9CEA-69CA1DE71EE3}"/>
              </a:ext>
            </a:extLst>
          </p:cNvPr>
          <p:cNvSpPr/>
          <p:nvPr/>
        </p:nvSpPr>
        <p:spPr>
          <a:xfrm>
            <a:off x="549774" y="4503626"/>
            <a:ext cx="3241018" cy="504056"/>
          </a:xfrm>
          <a:prstGeom prst="roundRect">
            <a:avLst/>
          </a:prstGeom>
          <a:blipFill rotWithShape="1">
            <a:blip r:embed="rId2">
              <a:duotone>
                <a:srgbClr val="993232">
                  <a:shade val="10000"/>
                  <a:satMod val="135000"/>
                </a:srgbClr>
                <a:srgbClr val="993232">
                  <a:satMod val="150000"/>
                  <a:lumMod val="110000"/>
                </a:srgbClr>
              </a:duotone>
            </a:blip>
            <a:stretch/>
          </a:blip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Faster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3C9092-B421-4949-9CE8-6B18EDAD4102}"/>
              </a:ext>
            </a:extLst>
          </p:cNvPr>
          <p:cNvSpPr/>
          <p:nvPr/>
        </p:nvSpPr>
        <p:spPr>
          <a:xfrm>
            <a:off x="4572000" y="4509694"/>
            <a:ext cx="3953812" cy="541017"/>
          </a:xfrm>
          <a:prstGeom prst="roundRect">
            <a:avLst/>
          </a:prstGeom>
          <a:solidFill>
            <a:srgbClr val="002060"/>
          </a:solidFill>
          <a:ln w="12700" cap="flat" cmpd="sng" algn="ctr">
            <a:solidFill>
              <a:srgbClr val="993232">
                <a:shade val="95000"/>
                <a:satMod val="105000"/>
              </a:srgbClr>
            </a:solidFill>
            <a:prstDash val="solid"/>
          </a:ln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Slower</a:t>
            </a:r>
          </a:p>
        </p:txBody>
      </p:sp>
    </p:spTree>
    <p:extLst>
      <p:ext uri="{BB962C8B-B14F-4D97-AF65-F5344CB8AC3E}">
        <p14:creationId xmlns:p14="http://schemas.microsoft.com/office/powerpoint/2010/main" val="236056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DIFFIE-HELLMAN KEY EXCHANGE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C1039F-CDBF-4DB2-8DF0-655BD85D61C7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979524"/>
            <a:ext cx="8496944" cy="4425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First published public-key algorithm in 1976 by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Whitfield Diffie and Martin Hellman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Widely used, e.g. in Secure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Shell (SSH), TLS, and </a:t>
            </a:r>
            <a:r>
              <a:rPr kumimoji="0" lang="en-AU" sz="2400" b="0" i="0" u="none" strike="noStrike" kern="1200" cap="none" spc="0" normalizeH="0" noProof="0" dirty="0" err="1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IPSec</a:t>
            </a:r>
            <a:endParaRPr kumimoji="0" lang="en-AU" sz="2400" b="0" i="0" u="none" strike="noStrike" kern="1200" cap="none" spc="0" normalizeH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DHKE is a key exchange protocol and not used for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 encryption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A number of commercial products employ this key exchange technique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Enables two users to exchange a secret key securely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Used for subsequent encryption of messages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1F07"/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The algorithm itself is limited to the exchange of the keys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Depends for its effectiveness on the difficulty of computing discrete logarithms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D1127-44B2-4236-A2D2-C46B4B48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3829">
            <a:off x="7181693" y="4440004"/>
            <a:ext cx="1752600" cy="159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0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84D14-5726-6F49-E9EB-23CFA47A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374723C6-021C-8643-B89B-75D5ADB02444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412B3-A19C-B55E-A032-1B1819931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650111"/>
            <a:ext cx="8178799" cy="355777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2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3DB42-F25E-4807-7B2A-8A9FE9508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658433"/>
            <a:ext cx="8178799" cy="5541133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C287C-C2A2-8AA9-B37A-E902E53D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374723C6-021C-8643-B89B-75D5ADB02444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96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76F3-1520-3CAF-BE37-137B13ED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374723C6-021C-8643-B89B-75D5ADB02444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69CC9A-818C-CC87-B491-C647BC67A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200277"/>
            <a:ext cx="8178799" cy="445744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50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DBF7-5591-99C6-F192-7BAE9223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374723C6-021C-8643-B89B-75D5ADB02444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19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9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3EDAD2-C13C-0CAD-12E1-A09603868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414971"/>
            <a:ext cx="8178799" cy="4028056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53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FA8C5-50A6-4A0F-9B90-98E352BD7330}"/>
              </a:ext>
            </a:extLst>
          </p:cNvPr>
          <p:cNvSpPr/>
          <p:nvPr/>
        </p:nvSpPr>
        <p:spPr>
          <a:xfrm>
            <a:off x="664322" y="123231"/>
            <a:ext cx="7920880" cy="64807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7BDC4-2971-4133-82A6-0C47C21DF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27" y="638153"/>
            <a:ext cx="2295525" cy="1714500"/>
          </a:xfrm>
          <a:prstGeom prst="rect">
            <a:avLst/>
          </a:prstGeom>
          <a:solidFill>
            <a:srgbClr val="E8E8E8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00889-96F8-4216-8A80-8F0E3294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343" y="638153"/>
            <a:ext cx="2352675" cy="171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EEFB5F-7AD2-48E2-9FB2-1F519350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470" y="2352653"/>
            <a:ext cx="6010275" cy="9334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0F9793F-29D8-4B9B-B9C9-00A736EE67E2}"/>
              </a:ext>
            </a:extLst>
          </p:cNvPr>
          <p:cNvGrpSpPr/>
          <p:nvPr/>
        </p:nvGrpSpPr>
        <p:grpSpPr>
          <a:xfrm>
            <a:off x="1580300" y="3428404"/>
            <a:ext cx="6000750" cy="551208"/>
            <a:chOff x="1488021" y="3050899"/>
            <a:chExt cx="6000750" cy="55120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F67402-B0F9-4FB8-B3EA-6ACD54BD6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8021" y="3050899"/>
              <a:ext cx="6000750" cy="533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77C950-1B24-440E-91C8-A0C89AFD5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79912" y="3059955"/>
              <a:ext cx="1228878" cy="54215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3B719D-575B-4663-A69A-9FDFA6656873}"/>
              </a:ext>
            </a:extLst>
          </p:cNvPr>
          <p:cNvGrpSpPr/>
          <p:nvPr/>
        </p:nvGrpSpPr>
        <p:grpSpPr>
          <a:xfrm>
            <a:off x="1580300" y="4036217"/>
            <a:ext cx="5981700" cy="545286"/>
            <a:chOff x="1488021" y="3658712"/>
            <a:chExt cx="5981700" cy="54528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22C762-C5FB-4127-A53A-D04416C15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88021" y="3689648"/>
              <a:ext cx="5981700" cy="5143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B31ADF-0951-4B69-817D-FEBBBC66E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99172" y="3658712"/>
              <a:ext cx="1520899" cy="545286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3CFA4B4-57E8-4760-B842-A268BDA49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300" y="4780380"/>
            <a:ext cx="2211151" cy="514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A79749-1BA2-4D90-8713-793C9C800D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1855" y="4780380"/>
            <a:ext cx="2249650" cy="4953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FE5E39E-D937-49E7-BAC3-442A8478D614}"/>
              </a:ext>
            </a:extLst>
          </p:cNvPr>
          <p:cNvGrpSpPr/>
          <p:nvPr/>
        </p:nvGrpSpPr>
        <p:grpSpPr>
          <a:xfrm>
            <a:off x="3773639" y="4047329"/>
            <a:ext cx="1523528" cy="978034"/>
            <a:chOff x="3773639" y="4047329"/>
            <a:chExt cx="1523528" cy="9780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F6D5767-4193-4792-8A9C-61E458B05A74}"/>
                </a:ext>
              </a:extLst>
            </p:cNvPr>
            <p:cNvCxnSpPr/>
            <p:nvPr/>
          </p:nvCxnSpPr>
          <p:spPr>
            <a:xfrm>
              <a:off x="3773639" y="4362573"/>
              <a:ext cx="1523528" cy="66279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50BAD5-A405-4CF1-9312-659CFBEC93D3}"/>
                </a:ext>
              </a:extLst>
            </p:cNvPr>
            <p:cNvGrpSpPr/>
            <p:nvPr/>
          </p:nvGrpSpPr>
          <p:grpSpPr>
            <a:xfrm>
              <a:off x="3972396" y="4047329"/>
              <a:ext cx="389936" cy="481953"/>
              <a:chOff x="3932776" y="3584065"/>
              <a:chExt cx="389936" cy="48195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86D31E7-DE16-40C0-9201-D5350D9B8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2776" y="3584065"/>
                <a:ext cx="212103" cy="379733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7B4335-26FB-444F-B569-F14637B06D25}"/>
                  </a:ext>
                </a:extLst>
              </p:cNvPr>
              <p:cNvSpPr txBox="1"/>
              <p:nvPr/>
            </p:nvSpPr>
            <p:spPr>
              <a:xfrm>
                <a:off x="3988966" y="3804408"/>
                <a:ext cx="3337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100" b="1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GB" sz="1100" b="1" i="1" baseline="-250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769035A-27FF-484A-83B9-5DAE9B2817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846" y="5372420"/>
            <a:ext cx="6020802" cy="127166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CFCC289-9F69-4B1C-B4D7-EE7B7EB7FD45}"/>
              </a:ext>
            </a:extLst>
          </p:cNvPr>
          <p:cNvGrpSpPr/>
          <p:nvPr/>
        </p:nvGrpSpPr>
        <p:grpSpPr>
          <a:xfrm>
            <a:off x="3791451" y="4065653"/>
            <a:ext cx="1537191" cy="971902"/>
            <a:chOff x="3791451" y="4065653"/>
            <a:chExt cx="1537191" cy="97190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B756F25-99A0-4D19-BB6E-C850823265B7}"/>
                </a:ext>
              </a:extLst>
            </p:cNvPr>
            <p:cNvCxnSpPr>
              <a:endCxn id="15" idx="3"/>
            </p:cNvCxnSpPr>
            <p:nvPr/>
          </p:nvCxnSpPr>
          <p:spPr>
            <a:xfrm flipH="1">
              <a:off x="3791451" y="4327251"/>
              <a:ext cx="1537191" cy="710304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EA4487D-A356-4311-ADB8-F01C348C08F0}"/>
                </a:ext>
              </a:extLst>
            </p:cNvPr>
            <p:cNvGrpSpPr/>
            <p:nvPr/>
          </p:nvGrpSpPr>
          <p:grpSpPr>
            <a:xfrm>
              <a:off x="4607275" y="4065653"/>
              <a:ext cx="397738" cy="422924"/>
              <a:chOff x="4590177" y="3636103"/>
              <a:chExt cx="397738" cy="422924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4CEF7BD-A27C-4A83-9CD4-E695FD91C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8142" y="3636103"/>
                <a:ext cx="209773" cy="390612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F697D0A-DA1B-492B-94E6-3F16CC45079D}"/>
                  </a:ext>
                </a:extLst>
              </p:cNvPr>
              <p:cNvSpPr txBox="1"/>
              <p:nvPr/>
            </p:nvSpPr>
            <p:spPr>
              <a:xfrm>
                <a:off x="4590177" y="3797417"/>
                <a:ext cx="3337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100" b="1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GB" sz="1100" b="1" i="1" baseline="-250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8153"/>
          </a:xfrm>
        </p:spPr>
        <p:txBody>
          <a:bodyPr/>
          <a:lstStyle/>
          <a:p>
            <a:pPr algn="ctr"/>
            <a:r>
              <a:rPr lang="en-GB" dirty="0"/>
              <a:t>DIFFIE-HELLMAN KEY EXCHANGE</a:t>
            </a:r>
          </a:p>
        </p:txBody>
      </p:sp>
    </p:spTree>
    <p:extLst>
      <p:ext uri="{BB962C8B-B14F-4D97-AF65-F5344CB8AC3E}">
        <p14:creationId xmlns:p14="http://schemas.microsoft.com/office/powerpoint/2010/main" val="375707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3F13A4A-05DC-4585-963F-E4E8C514655B}"/>
              </a:ext>
            </a:extLst>
          </p:cNvPr>
          <p:cNvSpPr txBox="1">
            <a:spLocks noChangeArrowheads="1"/>
          </p:cNvSpPr>
          <p:nvPr/>
        </p:nvSpPr>
        <p:spPr>
          <a:xfrm>
            <a:off x="251519" y="1628800"/>
            <a:ext cx="8578889" cy="9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Discuss the security of this algorithm.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2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Can you identify any vulnerabilities? </a:t>
            </a:r>
            <a:endParaRPr kumimoji="0" lang="en-AU" sz="22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8" name="Picture 7" descr="A close up of a logo&#10;&#10;Description generated with high confidence">
            <a:extLst>
              <a:ext uri="{FF2B5EF4-FFF2-40B4-BE49-F238E27FC236}">
                <a16:creationId xmlns:a16="http://schemas.microsoft.com/office/drawing/2014/main" id="{D121693B-710E-4B96-9258-3ED879883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16016" y="3068960"/>
            <a:ext cx="4114393" cy="258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927C6-D1FA-4F78-B7AC-20BB97C8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257175"/>
            <a:ext cx="5629275" cy="634365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2647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CLASS DISCUSSION</a:t>
            </a:r>
          </a:p>
        </p:txBody>
      </p:sp>
    </p:spTree>
    <p:extLst>
      <p:ext uri="{BB962C8B-B14F-4D97-AF65-F5344CB8AC3E}">
        <p14:creationId xmlns:p14="http://schemas.microsoft.com/office/powerpoint/2010/main" val="16096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CLASS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735B070-1AE4-42A6-8215-E36F916E3921}"/>
              </a:ext>
            </a:extLst>
          </p:cNvPr>
          <p:cNvSpPr txBox="1">
            <a:spLocks noChangeArrowheads="1"/>
          </p:cNvSpPr>
          <p:nvPr/>
        </p:nvSpPr>
        <p:spPr>
          <a:xfrm>
            <a:off x="251519" y="1628800"/>
            <a:ext cx="8578889" cy="9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Why is this key exchange protocol vulnerable to Man-in-the-Middle attack?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9" name="Picture 8" descr="A close up of a logo&#10;&#10;Description generated with high confidence">
            <a:extLst>
              <a:ext uri="{FF2B5EF4-FFF2-40B4-BE49-F238E27FC236}">
                <a16:creationId xmlns:a16="http://schemas.microsoft.com/office/drawing/2014/main" id="{29F7C5FE-77B4-4E5F-9546-B92D486F2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16016" y="3068960"/>
            <a:ext cx="4114393" cy="258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5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DIGITAL SIGNATURE STANDARD (DSS)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8DC84B51-0620-4C10-ADCC-FB5CD05F0970}"/>
              </a:ext>
            </a:extLst>
          </p:cNvPr>
          <p:cNvSpPr txBox="1">
            <a:spLocks/>
          </p:cNvSpPr>
          <p:nvPr/>
        </p:nvSpPr>
        <p:spPr>
          <a:xfrm>
            <a:off x="116563" y="1124744"/>
            <a:ext cx="8208912" cy="4608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NIST FIPS PUB 186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Makes use of the SHA-1 and presents a new digital signature technique, the Digital Signature Algorithm (DSA)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Originally proposed in 1991 and revised in 1993 and again in 1996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Uses an algorithm that is designed to provide only the digital signature function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Unlike RSA, it cannot be used for encryption or key exchange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53B74-F626-40BB-8DA3-303F5799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75" y="4347729"/>
            <a:ext cx="13716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5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DIGITAL SIGNATURES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A567E8-1FB8-49F1-9DA9-12F2DDB534FC}"/>
              </a:ext>
            </a:extLst>
          </p:cNvPr>
          <p:cNvSpPr txBox="1">
            <a:spLocks/>
          </p:cNvSpPr>
          <p:nvPr/>
        </p:nvSpPr>
        <p:spPr>
          <a:xfrm>
            <a:off x="107504" y="1104900"/>
            <a:ext cx="864096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NIST FIPS PUB 186-4 (Digital Signature Standard (DSS)) defines a digital signature as: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“the result of a cryptographic transformation of data that, when properly implemented, provides a mechanism for verifying origin authentication, data integrity, and signatory non-repudiation”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Digital signature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A data-dependent bit pattern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generated by an agent as a function of a file, message, or other form of data block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Three digital signature algorithms: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1F07">
                  <a:lumMod val="75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Digital signature algorithm (DSA)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1F07">
                  <a:lumMod val="75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RSA digital signature algorithm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1F07">
                  <a:lumMod val="75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Elliptic curve digital signature algorithm (ECDSA)</a:t>
            </a:r>
          </a:p>
        </p:txBody>
      </p:sp>
    </p:spTree>
    <p:extLst>
      <p:ext uri="{BB962C8B-B14F-4D97-AF65-F5344CB8AC3E}">
        <p14:creationId xmlns:p14="http://schemas.microsoft.com/office/powerpoint/2010/main" val="201479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ELLIPTIC-CURVE CRYPTOGRAPHY (ECC)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172815-69DA-43F1-A9B5-845968F5EDE2}"/>
              </a:ext>
            </a:extLst>
          </p:cNvPr>
          <p:cNvSpPr txBox="1">
            <a:spLocks/>
          </p:cNvSpPr>
          <p:nvPr/>
        </p:nvSpPr>
        <p:spPr>
          <a:xfrm>
            <a:off x="107504" y="1620621"/>
            <a:ext cx="90010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Based on the use of a mathematical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construct known as the elliptic curve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uLnTx/>
              <a:uFillTx/>
              <a:latin typeface="Calisto MT"/>
              <a:ea typeface="+mn-ea"/>
              <a:cs typeface="+mn-cs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endParaRPr lang="en-US" dirty="0">
              <a:solidFill>
                <a:srgbClr val="E5E5D3">
                  <a:lumMod val="10000"/>
                </a:srgbClr>
              </a:solidFill>
              <a:effectLst>
                <a:outerShdw blurRad="63500" dir="2700000" algn="tl" rotWithShape="0">
                  <a:sysClr val="window" lastClr="FFFFFF">
                    <a:alpha val="40000"/>
                  </a:sysClr>
                </a:outerShdw>
              </a:effectLst>
              <a:latin typeface="Calisto MT"/>
            </a:endParaRP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Principal attraction of ECC compared to RSA 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>
                  <a:lumMod val="60000"/>
                  <a:lumOff val="40000"/>
                </a:srgbClr>
              </a:buClr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It appears to offer equal security for a far smaller bit size</a:t>
            </a:r>
          </a:p>
          <a:p>
            <a:pPr marL="860425" marR="0" lvl="2" indent="-2825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Reducing processing overhead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Calisto MT" pitchFamily="18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5E5D3">
                    <a:lumMod val="10000"/>
                  </a:srgbClr>
                </a:solidFill>
                <a:effectLst>
                  <a:outerShdw blurRad="63500" dir="2700000" algn="tl" rotWithShape="0">
                    <a:sysClr val="window" lastClr="FFFFFF">
                      <a:alpha val="40000"/>
                    </a:sysClr>
                  </a:outerShdw>
                </a:effectLst>
                <a:uLnTx/>
                <a:uFillTx/>
                <a:latin typeface="Calisto MT"/>
                <a:ea typeface="+mn-ea"/>
                <a:cs typeface="+mn-cs"/>
              </a:rPr>
              <a:t>The confidence level in ECC is not yet as high as that in RSA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3359CA-8E1D-4D70-BF2C-D1045360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745" y="1182255"/>
            <a:ext cx="3402060" cy="191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2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ESSENTIAL ELEMENT OF DIGITAL SIGNATURE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0B52C-A21E-41BE-95C9-95954F1A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15" y="973852"/>
            <a:ext cx="2428875" cy="498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297B6-B1AE-4380-85B4-B98BA26E3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308" y="989715"/>
            <a:ext cx="25622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6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2255"/>
          </a:xfrm>
        </p:spPr>
        <p:txBody>
          <a:bodyPr/>
          <a:lstStyle/>
          <a:p>
            <a:pPr algn="ctr"/>
            <a:r>
              <a:rPr lang="en-GB" dirty="0"/>
              <a:t>RSA-PSS ENCODING and SIGNATURE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1818F3-7034-4523-9591-2E322137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06" y="879330"/>
            <a:ext cx="4157020" cy="483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03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sto MT" panose="02040603050505030304" pitchFamily="18" charset="0"/>
              </a:rPr>
              <a:t>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723C6-021C-8643-B89B-75D5ADB02444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46" y="1593851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2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A96E1B866D6D4986B9F14DF8D6E70A" ma:contentTypeVersion="7" ma:contentTypeDescription="Create a new document." ma:contentTypeScope="" ma:versionID="a4f7cb5ae21bd9baff10e9966b62d121">
  <xsd:schema xmlns:xsd="http://www.w3.org/2001/XMLSchema" xmlns:xs="http://www.w3.org/2001/XMLSchema" xmlns:p="http://schemas.microsoft.com/office/2006/metadata/properties" xmlns:ns3="702758a4-8256-4aff-b9df-da6a6690c467" targetNamespace="http://schemas.microsoft.com/office/2006/metadata/properties" ma:root="true" ma:fieldsID="18bd70696a309c26051b2c5e1780a23d" ns3:_="">
    <xsd:import namespace="702758a4-8256-4aff-b9df-da6a6690c4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758a4-8256-4aff-b9df-da6a6690c4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BEA194-E8EC-4283-95E5-5589191BFC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2758a4-8256-4aff-b9df-da6a6690c4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5C32F7-F996-4B6D-805B-3C4B54763B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245A4-1E6F-48C0-8442-7144EAA70373}">
  <ds:schemaRefs>
    <ds:schemaRef ds:uri="http://purl.org/dc/dcmitype/"/>
    <ds:schemaRef ds:uri="http://schemas.microsoft.com/office/infopath/2007/PartnerControls"/>
    <ds:schemaRef ds:uri="702758a4-8256-4aff-b9df-da6a6690c467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2399</TotalTime>
  <Words>1156</Words>
  <Application>Microsoft Office PowerPoint</Application>
  <PresentationFormat>On-screen Show (4:3)</PresentationFormat>
  <Paragraphs>196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         5CC512 Communication and Security Protocols  Week 5: Public Key Cryptography </vt:lpstr>
      <vt:lpstr>PUBLIC-KEY ENCRYPTION STRUCTURE</vt:lpstr>
      <vt:lpstr>PUBLIC KEY CRYPTOGRAPHY</vt:lpstr>
      <vt:lpstr>APPLICATIONS for PUBLIC-KEY CRYPTOSYSTEMS</vt:lpstr>
      <vt:lpstr>APPLICATIONS for PUBLIC-KEY CRYPTOSYSTEMS</vt:lpstr>
      <vt:lpstr>RSA Algorithm </vt:lpstr>
      <vt:lpstr>CLASS DISCUSSION</vt:lpstr>
      <vt:lpstr>EXAMPLE</vt:lpstr>
      <vt:lpstr>CLASS EXERCISE</vt:lpstr>
      <vt:lpstr>EFFICIENT CALCULATION of C = Me (mod n)</vt:lpstr>
      <vt:lpstr>EFFICIENT CALCULATION of C = Me (mod n)</vt:lpstr>
      <vt:lpstr>EXAMPLE</vt:lpstr>
      <vt:lpstr>CLASS DISCUSSION</vt:lpstr>
      <vt:lpstr>CLASS DISCUSSION</vt:lpstr>
      <vt:lpstr>DIFFIE-HELLMAN KEY EXCHANGE</vt:lpstr>
      <vt:lpstr>PowerPoint Presentation</vt:lpstr>
      <vt:lpstr>PowerPoint Presentation</vt:lpstr>
      <vt:lpstr>PowerPoint Presentation</vt:lpstr>
      <vt:lpstr>PowerPoint Presentation</vt:lpstr>
      <vt:lpstr>DIFFIE-HELLMAN KEY EXCHANGE</vt:lpstr>
      <vt:lpstr>CLASS DISCUSSION</vt:lpstr>
      <vt:lpstr>CLASS DISCUSSION</vt:lpstr>
      <vt:lpstr>CLASS DISCUSSION</vt:lpstr>
      <vt:lpstr>DIGITAL SIGNATURE STANDARD (DSS)</vt:lpstr>
      <vt:lpstr>DIGITAL SIGNATURES</vt:lpstr>
      <vt:lpstr>ELLIPTIC-CURVE CRYPTOGRAPHY (ECC)</vt:lpstr>
      <vt:lpstr>ESSENTIAL ELEMENT OF DIGITAL SIGNATURE PROCESS</vt:lpstr>
      <vt:lpstr>RSA-PSS ENCODING and SIGNATURE GENERATION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this can be one, two or three lines depending on its length</dc:title>
  <dc:creator>Office 2004 Test Drive User</dc:creator>
  <cp:lastModifiedBy>Aaisha Makkar</cp:lastModifiedBy>
  <cp:revision>220</cp:revision>
  <dcterms:created xsi:type="dcterms:W3CDTF">2014-08-08T11:20:07Z</dcterms:created>
  <dcterms:modified xsi:type="dcterms:W3CDTF">2025-10-02T22:38:51Z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6a44aa8-0ca7-4835-b60e-2195997d8080_Enabled">
    <vt:lpwstr>True</vt:lpwstr>
  </property>
  <property fmtid="{D5CDD505-2E9C-101B-9397-08002B2CF9AE}" pid="3" name="MSIP_Label_76a44aa8-0ca7-4835-b60e-2195997d8080_SiteId">
    <vt:lpwstr>98f1bb3a-5efa-4782-88ba-bd897db60e62</vt:lpwstr>
  </property>
  <property fmtid="{D5CDD505-2E9C-101B-9397-08002B2CF9AE}" pid="4" name="MSIP_Label_76a44aa8-0ca7-4835-b60e-2195997d8080_Owner">
    <vt:lpwstr>785317@derby.ac.uk</vt:lpwstr>
  </property>
  <property fmtid="{D5CDD505-2E9C-101B-9397-08002B2CF9AE}" pid="5" name="MSIP_Label_76a44aa8-0ca7-4835-b60e-2195997d8080_SetDate">
    <vt:lpwstr>2018-09-25T11:17:25.4879515Z</vt:lpwstr>
  </property>
  <property fmtid="{D5CDD505-2E9C-101B-9397-08002B2CF9AE}" pid="6" name="MSIP_Label_76a44aa8-0ca7-4835-b60e-2195997d8080_Name">
    <vt:lpwstr>Personal</vt:lpwstr>
  </property>
  <property fmtid="{D5CDD505-2E9C-101B-9397-08002B2CF9AE}" pid="7" name="MSIP_Label_76a44aa8-0ca7-4835-b60e-2195997d8080_Application">
    <vt:lpwstr>Microsoft Azure Information Protection</vt:lpwstr>
  </property>
  <property fmtid="{D5CDD505-2E9C-101B-9397-08002B2CF9AE}" pid="8" name="MSIP_Label_76a44aa8-0ca7-4835-b60e-2195997d8080_Extended_MSFT_Method">
    <vt:lpwstr>Manual</vt:lpwstr>
  </property>
  <property fmtid="{D5CDD505-2E9C-101B-9397-08002B2CF9AE}" pid="9" name="Sensitivity">
    <vt:lpwstr>Personal</vt:lpwstr>
  </property>
  <property fmtid="{D5CDD505-2E9C-101B-9397-08002B2CF9AE}" pid="10" name="ContentTypeId">
    <vt:lpwstr>0x010100FCA96E1B866D6D4986B9F14DF8D6E70A</vt:lpwstr>
  </property>
</Properties>
</file>